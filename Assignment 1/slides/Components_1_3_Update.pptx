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</p:sldIdLst>
  <p:notesMasterIdLst>
    <p:notesMasterId r:id="rId3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notesMaster" Target="notesMasters/notesMaster1.xml"/><Relationship Id="rId32" Type="http://schemas.openxmlformats.org/officeDocument/2006/relationships/presProps" Target="presProps.xml"/><Relationship Id="rId33" Type="http://schemas.openxmlformats.org/officeDocument/2006/relationships/viewProps" Target="viewProps.xml"/><Relationship Id="rId34" Type="http://schemas.openxmlformats.org/officeDocument/2006/relationships/theme" Target="theme/theme1.xml"/><Relationship Id="rId3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LOOKING AT: three boxes = the three components, left to right. Classical data in, quantum data as the answer, ML learning the map.
WHY: this is the map for the whole talk. Without it the next 20 slides are unconnected figures.
SAY: classical is cheap, quantum is expensive, the model predicts the second from the first. NOT quantum computing speeding up AI — the reverse.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LOOKING AT: phase space. Horizontal = position, vertical = momentum. Colour = total energy. White rings = constant energy.
A point on this plot is the complete state: where it is AND how it moves. Energy conservation means it can only travel ALONG a ring, never hop between them.
WHY: establishes that a classical state is a point living on a ring.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LOOKING AT: blue = what my code computed. White dashed = the exact pen-and-paper answer, sitting on top of it. Red dot = the start.
WHY: proof-of-correctness, not physics. Later systems have no exact answer, so the solver has to be verified HERE.
NUMBER: agrees to 6.7e-9.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LOOKING AT: 12 orbits from random starts, coloured by energy. Bigger ring = more energy. They never cross.
WHY: this IS the training dataset (classical_trajectories.npy).
IF ASKED why they never cross: a phase-space point determines the future uniquely, so a crossing would give one point two futures.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LOOKING AT: orbits at several energies. Low energy still looks elliptical; high energy is visibly deformed.
WHY: the bridge from toy spring to real hardware.
SAY: anharmonicity is what makes a qubit addressable. Evenly spaced levels mean a pulse driving 0-&gt;1 also drives 1-&gt;2; bending the potential breaks that.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LOOKING AT: many orbits launched in a NARROW energy band (2.0 +/- 0.5), coloured by energy. They nest like tree rings and never cross.
WHY: this is the assumption Component 3 is built on. A small change in the classical input gives a small change in the orbit — so a smooth classical-&gt;quantum map can exist at all. If these scattered, the whole project would be ill-posed.
IF ASKED: crossing orbits at the SAME energy would be a signature of chaos. They don't cross.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LOOKING AT: four 2-D shadows of a 4-D motion — two coupled oscillators need four numbers, which can't be drawn.
WHY: sets up the next two slides. Weakest slide in the deck; drop it first if short.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LOOKING AT: the same four projections repeated at E0 = 1, 3, 12 — one row per energy.
WHY: the handout asks how the projections change with energy. The region grows, fastest in (p1,p2) because the coupling acts through the momenta — but nothing scatters.
SAY: this is the first hint that my chaos expectation was wrong; the Poincare slide measures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LOOKING AT: the energy-band idea from Task 3(c), now with TWO oscillators (E = 3.0 +/- 0.5).
Each oscillator fills a band whose size grows with its share of the energy.
WHY: the smooth layered structure survives coupling. The two are correlated, not independent — the momentum coupling passes energy back and forth.
Cuttable if short; it repeats the Task 3(c) message.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LOOKING AT: state recorded ONLY when it crosses a chosen surface, always the same direction. Smooth curves = regular motion. A scattered cloud would mean chaos.
WHY: FIRST CORRECTION. I claimed chaos at high energy; measuring the Lyapunov exponent says regular at every energy (~0.005 = zero).
WHY I WAS WRONG: the nonlinearity is a bounded cosine, the harmonic term is not — so MORE energy makes it MORE nearly harmonic. Intuition was backwards.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LOOKING AT: three matrices drawn as heatmaps. Bright = large, dark = zero. Row/column = energy level.
H is bright only on the diagonal (each level has a definite energy). x and p are bright only just off the diagonal (they connect a level ONLY to its neighbours).
WHY: that off-diagonal stripe IS the ladder structure, made visible.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LOOKING AT: red line = the exact formula E_n = hbar*omega*(n+1/2). Blue circles = what my code computed, sitting on it.
WHY: shows energy is quantized AND verifies the code.
TWO FEATURES: evenly spaced (quantization), and the lowest sits at 0.5 not 0 (zero-point energy — it can't sit still, uncertainty forbids it).
The drift at high n is truncation, not error — next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LOOKING AT: how wrong each energy level is, log scale, for three basis sizes N.
WHY: the honest footnote to the previous slide. The error is a flat plateau at EXACTLY 1.000, not a growing drift: truncation makes one spurious eigenvalue at (N-1)/2, and sorting shifts every level above it down one rung. So the lowest ceil((N-1)/2) levels are exact - 5 of 10, 15 of 30, 25 of 50.
SAY: raise N until the numbers you care about stop moving. Cuttable if short.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LOOKING AT: quantum states drawn in the SAME position-momentum plane as slide 4. Red = positive, blue = NEGATIVE.
WHY: a real probability can never be negative — so blue means no classical explanation exists.
PANELS: coherent (right) = one positive blob, most classical, this is what I use for the ML. Fock (left) = negative crater. Superposition (middle) = interference stripes, proof it is genuinely in two states at once.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LOOKING AT: thick red = the classical orbit. Blue dashed = the AVERAGE position/momentum of the quantum state. On the right they lie exactly on top of each other.
WHY: this is the baseline that slide 20 breaks — the two slides are a pair.
SAY: for a coherent state the quantum average traces the classical orbit exactly. That is Ehrenfest's theorem. BUT averaging throws away the spread and interference the previous slide showed.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LOOKING AT: a real superconducting qubit. W-shaped curve = potential energy. Horizontal axis is phi, a magnetic PHASE (an angle, not a distance). Two wells at +/-2.85, barrier between them at 0.
WHY: the step from toy problem to real hardware.
SAY: the two lowest levels are split by only 0.134 E_C while the next is 4.6 away — factor of 34. That tiny splitting IS tunnelling through the barrier, and has no classical counterpart.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*** MOST IMPORTANT SLIDE. SLOW DOWN. ***
LOOKING AT: classical and quantum, same start, plotted against time. They agree until t~0.7, then the quantum one loses amplitude.
WHY: everything in Act 3 exists because of this gap. If these curves stayed together there'd be nothing to learn.
THE EXPLANATION: Ehrenfest says d&lt;p&gt;/dt = the AVERAGE OF THE FORCE. The classical equation uses the FORCE AT THE AVERAGE POSITION. Those agree only if the force is a straight line — i.e. only for a parabola. The fluxonium's force has a sine in it, and &lt;sin phi&gt; is not sin&lt;phi&gt;. So these averages obey NO classical equation.
That one fact explains why slide 18 agreed exactly, why this one doesn't, and why the network has anything to learn.
ALSO: this is where the coordinate-convention bug was — classical and quantum written half a flux quantum apart.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LOOKING AT: five starting phases, one well across the barrier to the other. The MIDDLE panel is the striking one.
On the barrier top the classical point sweeps a figure-eight through both wells; the quantum packet splits and stays put.
WHY: visual climax of Act 2 — same initial condition, completely different answers. That gap is what Component 3 must learn.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LOOKING AT: purple = error on data it learned from. Blue = error on data it has NEVER seen (the honest score). Red dotted = where I used to stop (150). Grey dashed = where blue actually bottoms out (1610).
WHY: shows the model is properly trained now, and how badly the old version under-trained.
HE WILL ASK: 'the gap got worse, 1.7x to 4.5x — isn't that overfitting?' ANSWER: partly, but validation itself improved 6.4x at the same time. Gap widening while the honest score improves is the expected trade.
The spikes are the optimizer; they recover and never beat the minimum.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LOOKING AT: grey dotted = the classical input the network was given. Blue = the true quantum answer. Red dashed = the prediction.
The red sits on the BLUE, not on the grey.
WHY: 'does it work' on a trajectory never seen in training. It learned the correction, not a copy.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LOOKING AT: four boxes, same measurement in all four — typical error in radians on the SAME 60 held-out trajectories. Smaller is better.
copy-classical 1.067 = predict nothing, hand back the classical input; its error IS the size of the quantum correction, so it is the floor.
k-NN 0.077 = copy the most similar training trajectory. Linear regression 0.026 = the best possible STRAIGHT-LINE map. MLP 0.0057 = the network.
WHY: last time I reported a number with nothing to compare it to, which is not a result.
SAY THIS BEFORE HE DOES: the comparison that matters is 4.5x over LINEAR REGRESSION, not 186x over copying. Inside one well the motion is near-harmonic and the harmonic map really IS linear (slide 14), so a straight-line fit already gets most of the way.
IF ASKED how solid: a different random split moves the MLP number ~12%, so do not defend the last digit.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LOOKING AT: error vs how far the packet started from the well bottom. Four FLAT lines.
Physics says this should slope up. It doesn't.
WHY: THIRD CORRECTION, and the subtlest.
TWO STEPS: (1) I first titled this 'error grows with distance' because that's what I expected and saw; measuring it gave rho=0.08, p=0.56 — no trend, so I retitled. (2) But 'no trend' wasn't the story either: the barrier is 2.85 rad away and I only sampled to 1.0 — a third of the way. The breakdown region was never in my data.
SAY: a null from a measurement that couldn't have detected the effect is not evidence of absence.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*** THE HEADLINE RESULT ***
LOOKING AT: same axes as the last slide but the lines now clearly RISE. Shaded band on the left = the entire range the previous slide covered (which is why it saw nothing). Dashed line right = the barrier top.
WHY: this is what the whole project was building toward.
TWO NUMBERS: the network's error climbs 5.2x (rho=+0.40, p=0.0016). Copy-classical climbs 2.4x (rho=+0.86) — and THAT one isn't about my model at all, it's the size of the quantum correction itself growing. A direct measurement of where classical and quantum part company.
NUANCE: the network degrades fastest in relative terms while staying most accurate — its advantage is biggest where the physics is easiest.
IF ASKED about numerics out there: checked, not assumed — bigger basis agrees to 8e-7 rad.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LOOKING AT: three checks against things with exact answers — spectrum vs formula, energy conservation, basis-size cross-check.
WHY: the credibility slide, and where all three corrections are listed together.
THE LINE TO LAND: none of the three errors raised an error message. The code ran fine and the figures looked plausible every time. A figure is a picture, not a measurement.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Two to lead with: (1) is the model learning physics or interpolating? Linear regression reaching 0.026 makes that sharper — most of the in-well map is trivially linear. (2) Should the target be a trajectory at all, or something with no classical analogue like the tunnelling splitting?
CLOSE on the italic line: which fluxonium property is actually worth predicting for real device design. That is genuinely his call and it shapes the next month.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011680"/>
            <a:ext cx="100584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Design of Quantum Processors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822960" y="3383280"/>
            <a:ext cx="9601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Components 1–3 — from classical and quantum data to a trained classical→quantum model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822960" y="4343400"/>
            <a:ext cx="1463040" cy="32004"/>
          </a:xfrm>
          <a:prstGeom prst="rect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493776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Marcos Sandoval Lucas
</a:t>
            </a:r>
            <a:pPr indent="0" marL="0">
              <a:buNone/>
            </a:pPr>
            <a:r>
              <a:rPr lang="en-US" sz="1300" dirty="0">
                <a:solidFill>
                  <a:srgbClr val="8F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Mondragon-Shem Quantum Group · UIC College of Engineering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743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777240"/>
            <a:ext cx="10881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dirty="0">
                <a:solidFill>
                  <a:srgbClr val="0B1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 test whether classical data can predict quantum properties — first on the exactly-solvable oscillator, now on a real fluxonium qubit.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960120" y="2423160"/>
            <a:ext cx="3200400" cy="2011680"/>
          </a:xfrm>
          <a:prstGeom prst="roundRect">
            <a:avLst>
              <a:gd name="adj" fmla="val 2727"/>
            </a:avLst>
          </a:prstGeom>
          <a:solidFill>
            <a:srgbClr val="E8EEF7"/>
          </a:solidFill>
          <a:ln w="12700">
            <a:solidFill>
              <a:srgbClr val="E8EEF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88720" y="26060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 1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1188720" y="29260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0B1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Classical data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1188720" y="3383280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Phase-space orbits &amp; energies — the model INPUTS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4206240" y="310896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4800600" y="2423160"/>
            <a:ext cx="3200400" cy="2011680"/>
          </a:xfrm>
          <a:prstGeom prst="roundRect">
            <a:avLst>
              <a:gd name="adj" fmla="val 2727"/>
            </a:avLst>
          </a:prstGeom>
          <a:solidFill>
            <a:srgbClr val="E8EEF7"/>
          </a:solidFill>
          <a:ln w="12700">
            <a:solidFill>
              <a:srgbClr val="E8EEF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0" y="26060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 2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029200" y="29260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0B1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Quantum data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5029200" y="3383280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Spectra and Wigner functions; the ⟨φ̂⟩,⟨n̂⟩ trajectories are the model TARGETS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8046720" y="310896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8641080" y="2423160"/>
            <a:ext cx="3200400" cy="2011680"/>
          </a:xfrm>
          <a:prstGeom prst="roundRect">
            <a:avLst>
              <a:gd name="adj" fmla="val 2727"/>
            </a:avLst>
          </a:prstGeom>
          <a:solidFill>
            <a:srgbClr val="E8EEF7"/>
          </a:solidFill>
          <a:ln w="12700">
            <a:solidFill>
              <a:srgbClr val="E8EEF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869680" y="26060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 3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8869680" y="29260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0B1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Machine learning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8869680" y="3383280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Trained, benchmarked, and measured against a physical axis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822960" y="4800600"/>
            <a:ext cx="6583680" cy="1097280"/>
          </a:xfrm>
          <a:prstGeom prst="roundRect">
            <a:avLst>
              <a:gd name="adj" fmla="val 5000"/>
            </a:avLst>
          </a:prstGeom>
          <a:solidFill>
            <a:srgbClr val="EAF6F4"/>
          </a:solidFill>
          <a:ln w="12700">
            <a:solidFill>
              <a:srgbClr val="EAF6F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51560" y="4956048"/>
            <a:ext cx="6126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 question:  </a:t>
            </a:r>
            <a:pPr indent="0" marL="0">
              <a:buNone/>
            </a:pPr>
            <a:r>
              <a:rPr lang="en-US" sz="1250" dirty="0">
                <a:solidFill>
                  <a:srgbClr val="16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much of a quantum system can be predicted from classical information alone — and where does that prediction break down?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7680960" y="4800600"/>
            <a:ext cx="3657600" cy="1097280"/>
          </a:xfrm>
          <a:prstGeom prst="roundRect">
            <a:avLst>
              <a:gd name="adj" fmla="val 5000"/>
            </a:avLst>
          </a:prstGeom>
          <a:solidFill>
            <a:srgbClr val="E8EEF7"/>
          </a:solidFill>
          <a:ln w="12700">
            <a:solidFill>
              <a:srgbClr val="E8EEF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909560" y="4956048"/>
            <a:ext cx="3200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system?
</a:t>
            </a:r>
            <a:pPr indent="0" marL="0">
              <a:buNone/>
            </a:pPr>
            <a:r>
              <a:rPr lang="en-US" sz="11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harmonic oscillator is exactly solvable in both worlds — every number has a built-in answer key.</a:t>
            </a:r>
            <a:endParaRPr lang="en-US" sz="1150" dirty="0"/>
          </a:p>
        </p:txBody>
      </p:sp>
      <p:sp>
        <p:nvSpPr>
          <p:cNvPr id="23" name="Text 20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Design of Quantum Processors  ·  Components 1–3</a:t>
            </a:r>
            <a:endParaRPr lang="en-US" sz="900" dirty="0"/>
          </a:p>
        </p:txBody>
      </p:sp>
      <p:sp>
        <p:nvSpPr>
          <p:cNvPr id="24" name="Text 21"/>
          <p:cNvSpPr/>
          <p:nvPr/>
        </p:nvSpPr>
        <p:spPr>
          <a:xfrm>
            <a:off x="11338560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4688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80" kern="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· PART 1 OF 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2926080"/>
            <a:ext cx="10058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Component 1 — Classical data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822960" y="4023360"/>
            <a:ext cx="9601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cheap side of the pipeline: phase-space orbits and energies for the harmonic, anharmonic and coupled oscillators — the model INPUTS. Every result is checked against an exact formula.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Design of Quantum Processors  ·  Components 1–3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338560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743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 1 · TASK 1(A, C)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777240"/>
            <a:ext cx="10881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dirty="0">
                <a:solidFill>
                  <a:srgbClr val="0B1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Constant-energy contours are closed elliptical orbits in phase space.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822960" y="1883664"/>
            <a:ext cx="6035040" cy="384048"/>
          </a:xfrm>
          <a:prstGeom prst="roundRect">
            <a:avLst>
              <a:gd name="adj" fmla="val 9524"/>
            </a:avLst>
          </a:prstGeom>
          <a:solidFill>
            <a:srgbClr val="F4F7FC"/>
          </a:solidFill>
          <a:ln w="12700">
            <a:solidFill>
              <a:srgbClr val="F4F7F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901952"/>
            <a:ext cx="5852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i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E(x, p)  =  p²/2m  +  ½ mω²x²          —  the classical energy (Task 1a)</a:t>
            </a:r>
            <a:endParaRPr lang="en-US" sz="1350" dirty="0"/>
          </a:p>
        </p:txBody>
      </p:sp>
      <p:pic>
        <p:nvPicPr>
          <p:cNvPr id="6" name="Image 0" descr="..\figures\fig_c1_energy_contour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80832" y="2377440"/>
            <a:ext cx="4119296" cy="36118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498080" y="192024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20" kern="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SHOWS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7498080" y="2331720"/>
            <a:ext cx="3931920" cy="3749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19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6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Colour is total energy E(x,p); white rings are constant-energy curves.</a:t>
            </a:r>
            <a:endParaRPr lang="en-US" sz="1300" dirty="0"/>
          </a:p>
          <a:p>
            <a:pPr marL="342900" indent="-342900">
              <a:lnSpc>
                <a:spcPts val="19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6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ring is one allowed classical orbit — the system is locked onto it.</a:t>
            </a:r>
            <a:endParaRPr lang="en-US" sz="1300" dirty="0"/>
          </a:p>
          <a:p>
            <a:pPr marL="342900" indent="-342900">
              <a:lnSpc>
                <a:spcPts val="19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6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natural units the ellipses become circles; larger energy = larger ring.</a:t>
            </a:r>
            <a:endParaRPr lang="en-US" sz="1300" dirty="0"/>
          </a:p>
          <a:p>
            <a:pPr marL="342900" indent="-342900">
              <a:lnSpc>
                <a:spcPts val="19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6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map defines the classical states the ML model draws its inputs from.</a:t>
            </a:r>
            <a:endParaRPr lang="en-US" sz="1300" dirty="0"/>
          </a:p>
        </p:txBody>
      </p:sp>
      <p:sp>
        <p:nvSpPr>
          <p:cNvPr id="10" name="Text 6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Design of Quantum Processors  ·  Components 1–3</a:t>
            </a:r>
            <a:endParaRPr lang="en-US" sz="900" dirty="0"/>
          </a:p>
        </p:txBody>
      </p:sp>
      <p:sp>
        <p:nvSpPr>
          <p:cNvPr id="11" name="Text 7"/>
          <p:cNvSpPr/>
          <p:nvPr/>
        </p:nvSpPr>
        <p:spPr>
          <a:xfrm>
            <a:off x="11338560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743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 1 · TASK 1(B) + 2(A)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777240"/>
            <a:ext cx="10881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dirty="0">
                <a:solidFill>
                  <a:srgbClr val="0B1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Numerical trajectories match the exact solution and conserve energy.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822960" y="1883664"/>
            <a:ext cx="6035040" cy="384048"/>
          </a:xfrm>
          <a:prstGeom prst="roundRect">
            <a:avLst>
              <a:gd name="adj" fmla="val 9524"/>
            </a:avLst>
          </a:prstGeom>
          <a:solidFill>
            <a:srgbClr val="F4F7FC"/>
          </a:solidFill>
          <a:ln w="12700">
            <a:solidFill>
              <a:srgbClr val="F4F7F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901952"/>
            <a:ext cx="5852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i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ẋ = ∂H/∂p = p/m        ṗ = −∂H/∂x = −mω²x          —  Hamilton’s equations (Task 1b)</a:t>
            </a:r>
            <a:endParaRPr lang="en-US" sz="1350" dirty="0"/>
          </a:p>
        </p:txBody>
      </p:sp>
      <p:pic>
        <p:nvPicPr>
          <p:cNvPr id="6" name="Image 0" descr="..\figures\fig_c1_single_trajector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41627" y="2377440"/>
            <a:ext cx="3997705" cy="36118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498080" y="192024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20" kern="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SHOWS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7498080" y="2331720"/>
            <a:ext cx="3931920" cy="3749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19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6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solve_ivp steps Hamilton's equations forward in time to trace the orbit.</a:t>
            </a:r>
            <a:endParaRPr lang="en-US" sz="1300" dirty="0"/>
          </a:p>
          <a:p>
            <a:pPr marL="342900" indent="-342900">
              <a:lnSpc>
                <a:spcPts val="19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6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numerical path overlaps the analytic solution — the solver is verified.</a:t>
            </a:r>
            <a:endParaRPr lang="en-US" sz="1300" dirty="0"/>
          </a:p>
          <a:p>
            <a:pPr marL="342900" indent="-342900">
              <a:lnSpc>
                <a:spcPts val="19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6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orbit closes on itself and energy drift is 1.9e-9 over four periods.</a:t>
            </a:r>
            <a:endParaRPr lang="en-US" sz="1300" dirty="0"/>
          </a:p>
          <a:p>
            <a:pPr marL="342900" indent="-342900">
              <a:lnSpc>
                <a:spcPts val="19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6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 here is what transfers to systems with no exact answer later.</a:t>
            </a:r>
            <a:endParaRPr lang="en-US" sz="1300" dirty="0"/>
          </a:p>
        </p:txBody>
      </p:sp>
      <p:sp>
        <p:nvSpPr>
          <p:cNvPr id="10" name="Text 6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Design of Quantum Processors  ·  Components 1–3</a:t>
            </a:r>
            <a:endParaRPr lang="en-US" sz="900" dirty="0"/>
          </a:p>
        </p:txBody>
      </p:sp>
      <p:sp>
        <p:nvSpPr>
          <p:cNvPr id="11" name="Text 7"/>
          <p:cNvSpPr/>
          <p:nvPr/>
        </p:nvSpPr>
        <p:spPr>
          <a:xfrm>
            <a:off x="11338560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743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 1 · TASK 2(B)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777240"/>
            <a:ext cx="10881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dirty="0">
                <a:solidFill>
                  <a:srgbClr val="0B1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Higher energy gives larger, non-crossing orbits — the classical feature set.</a:t>
            </a:r>
            <a:endParaRPr lang="en-US" sz="2300" dirty="0"/>
          </a:p>
        </p:txBody>
      </p:sp>
      <p:pic>
        <p:nvPicPr>
          <p:cNvPr id="4" name="Image 0" descr="..\figures\fig_c1_many_trajectori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12232" y="1965960"/>
            <a:ext cx="4456497" cy="40233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498080" y="192024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20" kern="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SHOWS</a:t>
            </a: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7498080" y="2331720"/>
            <a:ext cx="3931920" cy="3749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19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6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Twelve random initial conditions, each coloured by its conserved energy.</a:t>
            </a:r>
            <a:endParaRPr lang="en-US" sz="1300" dirty="0"/>
          </a:p>
          <a:p>
            <a:pPr marL="342900" indent="-342900">
              <a:lnSpc>
                <a:spcPts val="19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6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Orbits never intersect: a unique state has a unique future.</a:t>
            </a:r>
            <a:endParaRPr lang="en-US" sz="1300" dirty="0"/>
          </a:p>
          <a:p>
            <a:pPr marL="342900" indent="-342900">
              <a:lnSpc>
                <a:spcPts val="19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6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Saved as classical_trajectories.npy — the inputs for Component 3.</a:t>
            </a:r>
            <a:endParaRPr lang="en-US" sz="1300" dirty="0"/>
          </a:p>
          <a:p>
            <a:pPr marL="342900" indent="-342900">
              <a:lnSpc>
                <a:spcPts val="19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6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nested structure is the 'feature space' the ML model learns from.</a:t>
            </a:r>
            <a:endParaRPr lang="en-US" sz="1300" dirty="0"/>
          </a:p>
        </p:txBody>
      </p:sp>
      <p:sp>
        <p:nvSpPr>
          <p:cNvPr id="8" name="Text 4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Design of Quantum Processors  ·  Components 1–3</a:t>
            </a:r>
            <a:endParaRPr lang="en-US" sz="900" dirty="0"/>
          </a:p>
        </p:txBody>
      </p:sp>
      <p:sp>
        <p:nvSpPr>
          <p:cNvPr id="9" name="Text 5"/>
          <p:cNvSpPr/>
          <p:nvPr/>
        </p:nvSpPr>
        <p:spPr>
          <a:xfrm>
            <a:off x="11338560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743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 1 · TASK 3(A, B)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777240"/>
            <a:ext cx="10881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dirty="0">
                <a:solidFill>
                  <a:srgbClr val="0B1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Adding a cosine well bends the orbits out of ellipses and ties the period to energy.</a:t>
            </a:r>
            <a:endParaRPr lang="en-US" sz="2300" dirty="0"/>
          </a:p>
        </p:txBody>
      </p:sp>
      <p:pic>
        <p:nvPicPr>
          <p:cNvPr id="4" name="Image 0" descr="..\figures\fig_c1_cosine_trajectori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06966" y="1965960"/>
            <a:ext cx="5267028" cy="40233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498080" y="192024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20" kern="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SHOWS</a:t>
            </a: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7498080" y="2331720"/>
            <a:ext cx="3931920" cy="3749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19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6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 = p²/2m + ½mω²x² − V₀cos(kx) — the classical shadow of a Josephson junction.</a:t>
            </a:r>
            <a:endParaRPr lang="en-US" sz="1300" dirty="0"/>
          </a:p>
          <a:p>
            <a:pPr marL="342900" indent="-342900">
              <a:lnSpc>
                <a:spcPts val="19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6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Low-energy orbits still look elliptical; higher-energy orbits visibly deform.</a:t>
            </a:r>
            <a:endParaRPr lang="en-US" sz="1300" dirty="0"/>
          </a:p>
          <a:p>
            <a:pPr marL="342900" indent="-342900">
              <a:lnSpc>
                <a:spcPts val="19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6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Anharmonicity is what makes a qubit addressable — evenly spaced levels cannot be driven two at a time.</a:t>
            </a:r>
            <a:endParaRPr lang="en-US" sz="1300" dirty="0"/>
          </a:p>
          <a:p>
            <a:pPr marL="342900" indent="-342900">
              <a:lnSpc>
                <a:spcPts val="19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6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are the classical inputs Component 3 pairs with fluxonium targets.</a:t>
            </a:r>
            <a:endParaRPr lang="en-US" sz="1300" dirty="0"/>
          </a:p>
        </p:txBody>
      </p:sp>
      <p:sp>
        <p:nvSpPr>
          <p:cNvPr id="8" name="Text 4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Design of Quantum Processors  ·  Components 1–3</a:t>
            </a:r>
            <a:endParaRPr lang="en-US" sz="900" dirty="0"/>
          </a:p>
        </p:txBody>
      </p:sp>
      <p:sp>
        <p:nvSpPr>
          <p:cNvPr id="9" name="Text 5"/>
          <p:cNvSpPr/>
          <p:nvPr/>
        </p:nvSpPr>
        <p:spPr>
          <a:xfrm>
            <a:off x="11338560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743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 1 · TASK 3(C)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777240"/>
            <a:ext cx="10881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dirty="0">
                <a:solidFill>
                  <a:srgbClr val="0B1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Nearby energies trace nearby orbits — the smooth structure the ML model later relies on.</a:t>
            </a:r>
            <a:endParaRPr lang="en-US" sz="2300" dirty="0"/>
          </a:p>
        </p:txBody>
      </p:sp>
      <p:pic>
        <p:nvPicPr>
          <p:cNvPr id="4" name="Image 0" descr="..\figures\fig_c1_cosine_energy_ban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65201" y="1965960"/>
            <a:ext cx="5350558" cy="40233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498080" y="192024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20" kern="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SHOWS</a:t>
            </a: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7498080" y="2331720"/>
            <a:ext cx="3931920" cy="3749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19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6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Trajectories launched in a narrow energy band, E = 2.0 ± 0.5, coloured by initial energy.</a:t>
            </a:r>
            <a:endParaRPr lang="en-US" sz="1300" dirty="0"/>
          </a:p>
          <a:p>
            <a:pPr marL="342900" indent="-342900">
              <a:lnSpc>
                <a:spcPts val="19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6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orbits nest without ever crossing: a small change in energy gives a small change in orbit.</a:t>
            </a:r>
            <a:endParaRPr lang="en-US" sz="1300" dirty="0"/>
          </a:p>
          <a:p>
            <a:pPr marL="342900" indent="-342900">
              <a:lnSpc>
                <a:spcPts val="19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6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is the property Component 3 depends on. If nearby classical inputs gave wildly different orbits, no smooth map from classical to quantum could exist.</a:t>
            </a:r>
            <a:endParaRPr lang="en-US" sz="1300" dirty="0"/>
          </a:p>
          <a:p>
            <a:pPr marL="342900" indent="-342900">
              <a:lnSpc>
                <a:spcPts val="19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6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also shows the motion is regular here — crossing orbits at the same energy would signal chaos.</a:t>
            </a:r>
            <a:endParaRPr lang="en-US" sz="1300" dirty="0"/>
          </a:p>
        </p:txBody>
      </p:sp>
      <p:sp>
        <p:nvSpPr>
          <p:cNvPr id="8" name="Text 4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Design of Quantum Processors  ·  Components 1–3</a:t>
            </a:r>
            <a:endParaRPr lang="en-US" sz="900" dirty="0"/>
          </a:p>
        </p:txBody>
      </p:sp>
      <p:sp>
        <p:nvSpPr>
          <p:cNvPr id="9" name="Text 5"/>
          <p:cNvSpPr/>
          <p:nvPr/>
        </p:nvSpPr>
        <p:spPr>
          <a:xfrm>
            <a:off x="11338560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743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 1 · TASK 4(A, B)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777240"/>
            <a:ext cx="10881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dirty="0">
                <a:solidFill>
                  <a:srgbClr val="0B1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Two coupled oscillators live in a 4-D phase space, so we read them through 2-D projections.</a:t>
            </a:r>
            <a:endParaRPr lang="en-US" sz="2300" dirty="0"/>
          </a:p>
        </p:txBody>
      </p:sp>
      <p:pic>
        <p:nvPicPr>
          <p:cNvPr id="4" name="Image 0" descr="..\figures\fig_c1_coupled_projection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68994" y="1965960"/>
            <a:ext cx="4342973" cy="40233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498080" y="192024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20" kern="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SHOWS</a:t>
            </a: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7498080" y="2331720"/>
            <a:ext cx="3931920" cy="3749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19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6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cosine oscillators joined by momentum coupling λp₁p₂ with λ = 0.3.</a:t>
            </a:r>
            <a:endParaRPr lang="en-US" sz="1300" dirty="0"/>
          </a:p>
          <a:p>
            <a:pPr marL="342900" indent="-342900">
              <a:lnSpc>
                <a:spcPts val="19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6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state is (x₁, p₁, x₂, p₂) — four numbers, so the motion cannot be drawn directly.</a:t>
            </a:r>
            <a:endParaRPr lang="en-US" sz="1300" dirty="0"/>
          </a:p>
          <a:p>
            <a:pPr marL="342900" indent="-342900">
              <a:lnSpc>
                <a:spcPts val="19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6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panel projects that 4-D motion onto one pair of coordinates.</a:t>
            </a:r>
            <a:endParaRPr lang="en-US" sz="1300" dirty="0"/>
          </a:p>
          <a:p>
            <a:pPr marL="342900" indent="-342900">
              <a:lnSpc>
                <a:spcPts val="19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6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next slide repeats all four panels at three energies.</a:t>
            </a:r>
            <a:endParaRPr lang="en-US" sz="1300" dirty="0"/>
          </a:p>
        </p:txBody>
      </p:sp>
      <p:sp>
        <p:nvSpPr>
          <p:cNvPr id="8" name="Text 4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Design of Quantum Processors  ·  Components 1–3</a:t>
            </a:r>
            <a:endParaRPr lang="en-US" sz="900" dirty="0"/>
          </a:p>
        </p:txBody>
      </p:sp>
      <p:sp>
        <p:nvSpPr>
          <p:cNvPr id="9" name="Text 5"/>
          <p:cNvSpPr/>
          <p:nvPr/>
        </p:nvSpPr>
        <p:spPr>
          <a:xfrm>
            <a:off x="11338560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743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 1 · TASK 4(B CONTINUED)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777240"/>
            <a:ext cx="10881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dirty="0">
                <a:solidFill>
                  <a:srgbClr val="0B1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Raising the energy grows the accessible region without ever disordering it.</a:t>
            </a:r>
            <a:endParaRPr lang="en-US" sz="2300" dirty="0"/>
          </a:p>
        </p:txBody>
      </p:sp>
      <p:pic>
        <p:nvPicPr>
          <p:cNvPr id="4" name="Image 0" descr="..\figures\fig_c1_coupled_projections_energi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6987" y="1965960"/>
            <a:ext cx="5846986" cy="40233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498080" y="192024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20" kern="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SHOWS</a:t>
            </a: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7498080" y="2331720"/>
            <a:ext cx="3931920" cy="3749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19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6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four projections at E₀ = 1, 3 and 12 — twelve panels, one row per energy.</a:t>
            </a:r>
            <a:endParaRPr lang="en-US" sz="1300" dirty="0"/>
          </a:p>
          <a:p>
            <a:pPr marL="342900" indent="-342900">
              <a:lnSpc>
                <a:spcPts val="19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6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accessible region grows with energy, fastest in (p₁, p₂), because the coupling acts through the momenta.</a:t>
            </a:r>
            <a:endParaRPr lang="en-US" sz="1300" dirty="0"/>
          </a:p>
          <a:p>
            <a:pPr marL="342900" indent="-342900">
              <a:lnSpc>
                <a:spcPts val="19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6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curves stay smooth and nested at every energy. Nothing scatters.</a:t>
            </a:r>
            <a:endParaRPr lang="en-US" sz="1300" dirty="0"/>
          </a:p>
          <a:p>
            <a:pPr marL="342900" indent="-342900">
              <a:lnSpc>
                <a:spcPts val="19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6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the first evidence against my expectation of chaos at high energy — slide 12 measures it properly.</a:t>
            </a:r>
            <a:endParaRPr lang="en-US" sz="1300" dirty="0"/>
          </a:p>
        </p:txBody>
      </p:sp>
      <p:sp>
        <p:nvSpPr>
          <p:cNvPr id="8" name="Text 4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Design of Quantum Processors  ·  Components 1–3</a:t>
            </a:r>
            <a:endParaRPr lang="en-US" sz="900" dirty="0"/>
          </a:p>
        </p:txBody>
      </p:sp>
      <p:sp>
        <p:nvSpPr>
          <p:cNvPr id="9" name="Text 5"/>
          <p:cNvSpPr/>
          <p:nvPr/>
        </p:nvSpPr>
        <p:spPr>
          <a:xfrm>
            <a:off x="11338560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743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 1 · TASK 4(C)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777240"/>
            <a:ext cx="10881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dirty="0">
                <a:solidFill>
                  <a:srgbClr val="0B1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Each oscillator separately fills a band, and the coupling keeps the two correlated.</a:t>
            </a:r>
            <a:endParaRPr lang="en-US" sz="2300" dirty="0"/>
          </a:p>
        </p:txBody>
      </p:sp>
      <p:pic>
        <p:nvPicPr>
          <p:cNvPr id="4" name="Image 0" descr="..\figures\fig_c1_coupled_energy_ban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2173824"/>
            <a:ext cx="6035040" cy="3607631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498080" y="192024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20" kern="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SHOWS</a:t>
            </a: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7498080" y="2331720"/>
            <a:ext cx="3931920" cy="3749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19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6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(x₁, p₁) and (x₂, p₂) projections for a band of initial energies, E = 3.0 ± 0.5.</a:t>
            </a:r>
            <a:endParaRPr lang="en-US" sz="1300" dirty="0"/>
          </a:p>
          <a:p>
            <a:pPr marL="342900" indent="-342900">
              <a:lnSpc>
                <a:spcPts val="19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6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oscillator explores a filled region whose size grows with its share of the energy.</a:t>
            </a:r>
            <a:endParaRPr lang="en-US" sz="1300" dirty="0"/>
          </a:p>
          <a:p>
            <a:pPr marL="342900" indent="-342900">
              <a:lnSpc>
                <a:spcPts val="19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6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two are not independent: the momentum coupling exchanges energy between them, so their regions stay correlated.</a:t>
            </a:r>
            <a:endParaRPr lang="en-US" sz="1300" dirty="0"/>
          </a:p>
          <a:p>
            <a:pPr marL="342900" indent="-342900">
              <a:lnSpc>
                <a:spcPts val="19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6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message as Task 3(c), now with two degrees of freedom — the structure survives coupling.</a:t>
            </a:r>
            <a:endParaRPr lang="en-US" sz="1300" dirty="0"/>
          </a:p>
        </p:txBody>
      </p:sp>
      <p:sp>
        <p:nvSpPr>
          <p:cNvPr id="8" name="Text 4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Design of Quantum Processors  ·  Components 1–3</a:t>
            </a:r>
            <a:endParaRPr lang="en-US" sz="900" dirty="0"/>
          </a:p>
        </p:txBody>
      </p:sp>
      <p:sp>
        <p:nvSpPr>
          <p:cNvPr id="9" name="Text 5"/>
          <p:cNvSpPr/>
          <p:nvPr/>
        </p:nvSpPr>
        <p:spPr>
          <a:xfrm>
            <a:off x="11338560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743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 1 · TASK 4(D)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777240"/>
            <a:ext cx="10881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dirty="0">
                <a:solidFill>
                  <a:srgbClr val="0B1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 expected chaos at high energy. Measuring it properly says the motion stays regular.</a:t>
            </a:r>
            <a:endParaRPr lang="en-US" sz="2300" dirty="0"/>
          </a:p>
        </p:txBody>
      </p:sp>
      <p:pic>
        <p:nvPicPr>
          <p:cNvPr id="4" name="Image 0" descr="..\figures\fig_c1_coupled_poincar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2266389"/>
            <a:ext cx="6035040" cy="3422503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498080" y="192024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20" kern="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SHOWS</a:t>
            </a: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7498080" y="2331720"/>
            <a:ext cx="3931920" cy="3749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19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6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Poincaré section records the state only as it crosses x₂ = 0 in one direction.</a:t>
            </a:r>
            <a:endParaRPr lang="en-US" sz="1300" dirty="0"/>
          </a:p>
          <a:p>
            <a:pPr marL="342900" indent="-342900">
              <a:lnSpc>
                <a:spcPts val="19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6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Smooth nested curves mean regular, quasiperiodic motion (KAM tori); a scattered cloud would mean chaos.</a:t>
            </a:r>
            <a:endParaRPr lang="en-US" sz="1300" dirty="0"/>
          </a:p>
          <a:p>
            <a:pPr marL="342900" indent="-342900">
              <a:lnSpc>
                <a:spcPts val="19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6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E = 1 and E = 12 give nested curves. The Lyapunov exponent confirms it: λ ≈ 0.004–0.007, zero to within the log t/t floor.</a:t>
            </a:r>
            <a:endParaRPr lang="en-US" sz="1300" dirty="0"/>
          </a:p>
          <a:p>
            <a:pPr marL="342900" indent="-342900">
              <a:lnSpc>
                <a:spcPts val="19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6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nonlinearity is a bounded cosine while the harmonic term grows without limit — so higher energy makes this system MORE nearly integrable.</a:t>
            </a:r>
            <a:endParaRPr lang="en-US" sz="1300" dirty="0"/>
          </a:p>
        </p:txBody>
      </p:sp>
      <p:sp>
        <p:nvSpPr>
          <p:cNvPr id="8" name="Text 4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Design of Quantum Processors  ·  Components 1–3</a:t>
            </a:r>
            <a:endParaRPr lang="en-US" sz="900" dirty="0"/>
          </a:p>
        </p:txBody>
      </p:sp>
      <p:sp>
        <p:nvSpPr>
          <p:cNvPr id="9" name="Text 5"/>
          <p:cNvSpPr/>
          <p:nvPr/>
        </p:nvSpPr>
        <p:spPr>
          <a:xfrm>
            <a:off x="11338560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4688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80" kern="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· PART 2 OF 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2926080"/>
            <a:ext cx="10058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Component 2 — Quantum data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822960" y="4023360"/>
            <a:ext cx="9601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expensive side: operators, spectra, Wigner functions and wave-packet dynamics — from the textbook oscillator to a real fluxonium qubit. These are the model TARGETS.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Design of Quantum Processors  ·  Components 1–3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338560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743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 2 · TASK 1(A)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777240"/>
            <a:ext cx="10881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dirty="0">
                <a:solidFill>
                  <a:srgbClr val="0B1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quantum operators reveal the ladder structure of the oscillator.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822960" y="1828800"/>
            <a:ext cx="10515600" cy="384048"/>
          </a:xfrm>
          <a:prstGeom prst="roundRect">
            <a:avLst>
              <a:gd name="adj" fmla="val 9524"/>
            </a:avLst>
          </a:prstGeom>
          <a:solidFill>
            <a:srgbClr val="F4F7FC"/>
          </a:solidFill>
          <a:ln w="12700">
            <a:solidFill>
              <a:srgbClr val="F4F7F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847088"/>
            <a:ext cx="10332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i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x̂ = √(ℏ/2mω)(â + â†)     p̂ = −i√(ℏmω/2)(â − â†)     Ĥ = p̂²/2m + ½ mω²x̂²</a:t>
            </a:r>
            <a:endParaRPr lang="en-US" sz="1350" dirty="0"/>
          </a:p>
        </p:txBody>
      </p:sp>
      <p:pic>
        <p:nvPicPr>
          <p:cNvPr id="6" name="Image 0" descr="..\figures\fig_c2_operator_matric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57264" y="2286000"/>
            <a:ext cx="8246991" cy="283464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822960" y="5257800"/>
            <a:ext cx="10515600" cy="1143000"/>
          </a:xfrm>
          <a:prstGeom prst="roundRect">
            <a:avLst>
              <a:gd name="adj" fmla="val 4800"/>
            </a:avLst>
          </a:prstGeom>
          <a:solidFill>
            <a:srgbClr val="EAF6F4"/>
          </a:solidFill>
          <a:ln w="12700">
            <a:solidFill>
              <a:srgbClr val="EAF6F4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051560" y="5367528"/>
            <a:ext cx="10058400" cy="923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Takeaway:  </a:t>
            </a:r>
            <a:pPr indent="0" marL="0">
              <a:buNone/>
            </a:pPr>
            <a:r>
              <a:rPr lang="en-US" sz="1250" dirty="0">
                <a:solidFill>
                  <a:srgbClr val="16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Ĥ is diagonal (each level has a definite energy), while x̂ and p̂ have only off-diagonal entries — they connect a level to its immediate neighbours. That off-diagonal stripe is the ladder, drawn.</a:t>
            </a:r>
            <a:endParaRPr lang="en-US" sz="1250" dirty="0"/>
          </a:p>
        </p:txBody>
      </p:sp>
      <p:sp>
        <p:nvSpPr>
          <p:cNvPr id="10" name="Text 6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Design of Quantum Processors  ·  Components 1–3</a:t>
            </a:r>
            <a:endParaRPr lang="en-US" sz="900" dirty="0"/>
          </a:p>
        </p:txBody>
      </p:sp>
      <p:sp>
        <p:nvSpPr>
          <p:cNvPr id="11" name="Text 7"/>
          <p:cNvSpPr/>
          <p:nvPr/>
        </p:nvSpPr>
        <p:spPr>
          <a:xfrm>
            <a:off x="11338560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743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 2 · TASK 1(B)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777240"/>
            <a:ext cx="10881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dirty="0">
                <a:solidFill>
                  <a:srgbClr val="0B1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Quantum energy is discrete, evenly spaced, with a nonzero zero-point energy.</a:t>
            </a:r>
            <a:endParaRPr lang="en-US" sz="2300" dirty="0"/>
          </a:p>
        </p:txBody>
      </p:sp>
      <p:pic>
        <p:nvPicPr>
          <p:cNvPr id="4" name="Image 0" descr="..\figures\fig_c2_energy_spectru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9410" y="1965960"/>
            <a:ext cx="5842139" cy="40233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498080" y="192024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20" kern="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SHOWS</a:t>
            </a: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7498080" y="2331720"/>
            <a:ext cx="3931920" cy="3749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19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6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QuTiP eigenvalues land exactly on the analytic line Eₙ = ℏω(n+½).</a:t>
            </a:r>
            <a:endParaRPr lang="en-US" sz="1300" dirty="0"/>
          </a:p>
          <a:p>
            <a:pPr marL="342900" indent="-342900">
              <a:lnSpc>
                <a:spcPts val="19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6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 state E₀ = ½ℏω ≠ 0 — a purely quantum effect.</a:t>
            </a:r>
            <a:endParaRPr lang="en-US" sz="1300" dirty="0"/>
          </a:p>
          <a:p>
            <a:pPr marL="342900" indent="-342900">
              <a:lnSpc>
                <a:spcPts val="19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6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Levels are equally spaced by ℏω (the ladder).</a:t>
            </a:r>
            <a:endParaRPr lang="en-US" sz="1300" dirty="0"/>
          </a:p>
          <a:p>
            <a:pPr marL="342900" indent="-342900">
              <a:lnSpc>
                <a:spcPts val="19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6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High-n points drift: the expected signature of finite truncation.</a:t>
            </a:r>
            <a:endParaRPr lang="en-US" sz="1300" dirty="0"/>
          </a:p>
        </p:txBody>
      </p:sp>
      <p:sp>
        <p:nvSpPr>
          <p:cNvPr id="8" name="Text 4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Design of Quantum Processors  ·  Components 1–3</a:t>
            </a:r>
            <a:endParaRPr lang="en-US" sz="900" dirty="0"/>
          </a:p>
        </p:txBody>
      </p:sp>
      <p:sp>
        <p:nvSpPr>
          <p:cNvPr id="9" name="Text 5"/>
          <p:cNvSpPr/>
          <p:nvPr/>
        </p:nvSpPr>
        <p:spPr>
          <a:xfrm>
            <a:off x="11338560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743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 2 · TASK 1(B) — CONVERGENCE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777240"/>
            <a:ext cx="10881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dirty="0">
                <a:solidFill>
                  <a:srgbClr val="0B1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truncation level N sets how many energy levels are trustworthy.</a:t>
            </a:r>
            <a:endParaRPr lang="en-US" sz="2300" dirty="0"/>
          </a:p>
        </p:txBody>
      </p:sp>
      <p:pic>
        <p:nvPicPr>
          <p:cNvPr id="4" name="Image 0" descr="..\figures\fig_c2_convergenc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2110869"/>
            <a:ext cx="6035040" cy="373354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498080" y="192024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20" kern="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SHOWS</a:t>
            </a: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7498080" y="2331720"/>
            <a:ext cx="3931920" cy="3749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19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6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sits at machine-zero, then jumps to a flat plateau at exactly 1.000 — not a growing drift.</a:t>
            </a:r>
            <a:endParaRPr lang="en-US" sz="1300" dirty="0"/>
          </a:p>
          <a:p>
            <a:pPr marL="342900" indent="-342900">
              <a:lnSpc>
                <a:spcPts val="19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6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Cause: truncation makes one spurious eigenvalue at (N−1)/2; sorting then shifts every level above it by one rung.</a:t>
            </a:r>
            <a:endParaRPr lang="en-US" sz="1300" dirty="0"/>
          </a:p>
          <a:p>
            <a:pPr marL="342900" indent="-342900">
              <a:lnSpc>
                <a:spcPts val="19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6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the lowest ⌈(N−1)/2⌉ levels are exact: 5 of 10, 15 of 30, 25 of 50.</a:t>
            </a:r>
            <a:endParaRPr lang="en-US" sz="1300" dirty="0"/>
          </a:p>
          <a:p>
            <a:pPr marL="342900" indent="-342900">
              <a:lnSpc>
                <a:spcPts val="19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6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Rule: raise N until the quantity of interest stops changing.</a:t>
            </a:r>
            <a:endParaRPr lang="en-US" sz="1300" dirty="0"/>
          </a:p>
        </p:txBody>
      </p:sp>
      <p:sp>
        <p:nvSpPr>
          <p:cNvPr id="8" name="Text 4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Design of Quantum Processors  ·  Components 1–3</a:t>
            </a:r>
            <a:endParaRPr lang="en-US" sz="900" dirty="0"/>
          </a:p>
        </p:txBody>
      </p:sp>
      <p:sp>
        <p:nvSpPr>
          <p:cNvPr id="9" name="Text 5"/>
          <p:cNvSpPr/>
          <p:nvPr/>
        </p:nvSpPr>
        <p:spPr>
          <a:xfrm>
            <a:off x="11338560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743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 2 · TASK 2(A, B) + 2(C)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777240"/>
            <a:ext cx="10881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dirty="0">
                <a:solidFill>
                  <a:srgbClr val="0B1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Wigner functions expose non-classicality through negativity and interference.</a:t>
            </a:r>
            <a:endParaRPr lang="en-US" sz="2300" dirty="0"/>
          </a:p>
        </p:txBody>
      </p:sp>
      <p:pic>
        <p:nvPicPr>
          <p:cNvPr id="4" name="Image 0" descr="..\figures\fig_c2_wigner_t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9941" y="1874520"/>
            <a:ext cx="10161639" cy="32004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822960" y="5257800"/>
            <a:ext cx="10515600" cy="1143000"/>
          </a:xfrm>
          <a:prstGeom prst="roundRect">
            <a:avLst>
              <a:gd name="adj" fmla="val 4800"/>
            </a:avLst>
          </a:prstGeom>
          <a:solidFill>
            <a:srgbClr val="EAF6F4"/>
          </a:solidFill>
          <a:ln w="12700">
            <a:solidFill>
              <a:srgbClr val="EAF6F4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1051560" y="5367528"/>
            <a:ext cx="10058400" cy="923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Takeaway:  </a:t>
            </a:r>
            <a:pPr indent="0" marL="0">
              <a:buNone/>
            </a:pPr>
            <a:r>
              <a:rPr lang="en-US" sz="1250" dirty="0">
                <a:solidFill>
                  <a:srgbClr val="16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Fock state has a negative core and the superposition shows interference fringes (both impossible classically); the coherent state stays positive — the most classical state. Task 2(c) animates all three at a fixed colour scale — movies/wigner_{coherent,fock,superposition}.gif, playable from the repo.</a:t>
            </a:r>
            <a:endParaRPr lang="en-US" sz="1250" dirty="0"/>
          </a:p>
        </p:txBody>
      </p:sp>
      <p:sp>
        <p:nvSpPr>
          <p:cNvPr id="8" name="Text 4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Design of Quantum Processors  ·  Components 1–3</a:t>
            </a:r>
            <a:endParaRPr lang="en-US" sz="900" dirty="0"/>
          </a:p>
        </p:txBody>
      </p:sp>
      <p:sp>
        <p:nvSpPr>
          <p:cNvPr id="9" name="Text 5"/>
          <p:cNvSpPr/>
          <p:nvPr/>
        </p:nvSpPr>
        <p:spPr>
          <a:xfrm>
            <a:off x="11338560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743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 2 · TASK 2(D)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777240"/>
            <a:ext cx="10881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dirty="0">
                <a:solidFill>
                  <a:srgbClr val="0B1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Quantum averages trace the classical orbit, but averaging hides the spread.</a:t>
            </a:r>
            <a:endParaRPr lang="en-US" sz="2300" dirty="0"/>
          </a:p>
        </p:txBody>
      </p:sp>
      <p:pic>
        <p:nvPicPr>
          <p:cNvPr id="4" name="Image 0" descr="..\figures\fig_c2_expectation_vs_classic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98171" y="1874520"/>
            <a:ext cx="8765177" cy="32004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822960" y="5257800"/>
            <a:ext cx="10515600" cy="1143000"/>
          </a:xfrm>
          <a:prstGeom prst="roundRect">
            <a:avLst>
              <a:gd name="adj" fmla="val 4800"/>
            </a:avLst>
          </a:prstGeom>
          <a:solidFill>
            <a:srgbClr val="EAF6F4"/>
          </a:solidFill>
          <a:ln w="12700">
            <a:solidFill>
              <a:srgbClr val="EAF6F4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1051560" y="5367528"/>
            <a:ext cx="10058400" cy="923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Takeaway:  </a:t>
            </a:r>
            <a:pPr indent="0" marL="0">
              <a:buNone/>
            </a:pPr>
            <a:r>
              <a:rPr lang="en-US" sz="1250" dirty="0">
                <a:solidFill>
                  <a:srgbClr val="16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the coherent state ⟨x̂⟩,⟨p̂⟩ follow the classical circle exactly (Ehrenfest's theorem); the Fock state sits at the origin. The averages discard the variance and interference the Wigner picture keeps.</a:t>
            </a:r>
            <a:endParaRPr lang="en-US" sz="1250" dirty="0"/>
          </a:p>
        </p:txBody>
      </p:sp>
      <p:sp>
        <p:nvSpPr>
          <p:cNvPr id="8" name="Text 4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Design of Quantum Processors  ·  Components 1–3</a:t>
            </a:r>
            <a:endParaRPr lang="en-US" sz="900" dirty="0"/>
          </a:p>
        </p:txBody>
      </p:sp>
      <p:sp>
        <p:nvSpPr>
          <p:cNvPr id="9" name="Text 5"/>
          <p:cNvSpPr/>
          <p:nvPr/>
        </p:nvSpPr>
        <p:spPr>
          <a:xfrm>
            <a:off x="11338560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743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 2 · TASK 3(A, B)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777240"/>
            <a:ext cx="10881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dirty="0">
                <a:solidFill>
                  <a:srgbClr val="0B1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At half flux the fluxonium is a double well whose two lowest states form a tunneling doublet.</a:t>
            </a:r>
            <a:endParaRPr lang="en-US" sz="2300" dirty="0"/>
          </a:p>
        </p:txBody>
      </p:sp>
      <p:pic>
        <p:nvPicPr>
          <p:cNvPr id="4" name="Image 0" descr="..\figures\fig_c2_fluxonium_spectru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2029621"/>
            <a:ext cx="6035040" cy="389603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498080" y="192024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20" kern="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SHOWS</a:t>
            </a: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7498080" y="2331720"/>
            <a:ext cx="3931920" cy="3749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19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6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Ĥ = 4E_C n̂² + ½E_L φ̂² − E_J cos(φ̂ + φ_ext) — scqubits' convention, at E_J/E_C = 5, E_L/E_C = 0.5.</a:t>
            </a:r>
            <a:endParaRPr lang="en-US" sz="1300" dirty="0"/>
          </a:p>
          <a:p>
            <a:pPr marL="342900" indent="-342900">
              <a:lnSpc>
                <a:spcPts val="19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6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φ_ext = π is the symmetric sweet spot: wells at φ = ±2.85 with a barrier at φ = 0, 7.76 E_C above them.</a:t>
            </a:r>
            <a:endParaRPr lang="en-US" sz="1300" dirty="0"/>
          </a:p>
          <a:p>
            <a:pPr marL="342900" indent="-342900">
              <a:lnSpc>
                <a:spcPts val="19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6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E₁ − E₀ = 0.134 E_C while E₂ − E₀ = 4.62 E_C — a 34× gap that isolates a clean two-level system.</a:t>
            </a:r>
            <a:endParaRPr lang="en-US" sz="1300" dirty="0"/>
          </a:p>
          <a:p>
            <a:pPr marL="342900" indent="-342900">
              <a:lnSpc>
                <a:spcPts val="19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6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tiny splitting is tunneling through the barrier, and it has no classical counterpart.</a:t>
            </a:r>
            <a:endParaRPr lang="en-US" sz="1300" dirty="0"/>
          </a:p>
        </p:txBody>
      </p:sp>
      <p:sp>
        <p:nvSpPr>
          <p:cNvPr id="8" name="Text 4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Design of Quantum Processors  ·  Components 1–3</a:t>
            </a:r>
            <a:endParaRPr lang="en-US" sz="900" dirty="0"/>
          </a:p>
        </p:txBody>
      </p:sp>
      <p:sp>
        <p:nvSpPr>
          <p:cNvPr id="9" name="Text 5"/>
          <p:cNvSpPr/>
          <p:nvPr/>
        </p:nvSpPr>
        <p:spPr>
          <a:xfrm>
            <a:off x="11338560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743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 2 · TASK 3(C, D, E)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777240"/>
            <a:ext cx="10881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dirty="0">
                <a:solidFill>
                  <a:srgbClr val="0B1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wave packet tracks the classical orbit for half a period, then falls behind it.</a:t>
            </a:r>
            <a:endParaRPr lang="en-US" sz="2300" dirty="0"/>
          </a:p>
        </p:txBody>
      </p:sp>
      <p:pic>
        <p:nvPicPr>
          <p:cNvPr id="4" name="Image 0" descr="..\figures\fig_c2_fluxonium_dynamic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30616" y="1874520"/>
            <a:ext cx="7900288" cy="32004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822960" y="5257800"/>
            <a:ext cx="10515600" cy="1143000"/>
          </a:xfrm>
          <a:prstGeom prst="roundRect">
            <a:avLst>
              <a:gd name="adj" fmla="val 4800"/>
            </a:avLst>
          </a:prstGeom>
          <a:solidFill>
            <a:srgbClr val="EAF6F4"/>
          </a:solidFill>
          <a:ln w="12700">
            <a:solidFill>
              <a:srgbClr val="EAF6F4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1051560" y="5367528"/>
            <a:ext cx="10058400" cy="923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Takeaway:  </a:t>
            </a:r>
            <a:pPr indent="0" marL="0">
              <a:buNone/>
            </a:pPr>
            <a:r>
              <a:rPr lang="en-US" sz="1250" dirty="0">
                <a:solidFill>
                  <a:srgbClr val="16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start at the well minimum φ₀ = 2.85 with the same charge kick n₀ = 0.5. They agree until t ≈ 0.7, then the quantum average loses amplitude. The reason is precise: Ehrenfest gives d⟨n̂⟩/dt = ⟨−∂U/∂φ⟩, the average of the force — which equals the classical force at the average position only for a harmonic potential. ⟨Ĥ⟩ is conserved to 2.1e-7, so this is physics, not solver error.</a:t>
            </a:r>
            <a:endParaRPr lang="en-US" sz="1250" dirty="0"/>
          </a:p>
        </p:txBody>
      </p:sp>
      <p:sp>
        <p:nvSpPr>
          <p:cNvPr id="8" name="Text 4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Design of Quantum Processors  ·  Components 1–3</a:t>
            </a:r>
            <a:endParaRPr lang="en-US" sz="900" dirty="0"/>
          </a:p>
        </p:txBody>
      </p:sp>
      <p:sp>
        <p:nvSpPr>
          <p:cNvPr id="9" name="Text 5"/>
          <p:cNvSpPr/>
          <p:nvPr/>
        </p:nvSpPr>
        <p:spPr>
          <a:xfrm>
            <a:off x="11338560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743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 2 · TASK 3(F)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777240"/>
            <a:ext cx="10881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dirty="0">
                <a:solidFill>
                  <a:srgbClr val="0B1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Launched on the barrier, the classical and quantum pictures stop describing the same system.</a:t>
            </a:r>
            <a:endParaRPr lang="en-US" sz="2300" dirty="0"/>
          </a:p>
        </p:txBody>
      </p:sp>
      <p:pic>
        <p:nvPicPr>
          <p:cNvPr id="4" name="Image 0" descr="..\figures\fig_c2_fluxonium_swee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26918" y="1874520"/>
            <a:ext cx="7707684" cy="32004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822960" y="5257800"/>
            <a:ext cx="10515600" cy="1143000"/>
          </a:xfrm>
          <a:prstGeom prst="roundRect">
            <a:avLst>
              <a:gd name="adj" fmla="val 4800"/>
            </a:avLst>
          </a:prstGeom>
          <a:solidFill>
            <a:srgbClr val="EAF6F4"/>
          </a:solidFill>
          <a:ln w="12700">
            <a:solidFill>
              <a:srgbClr val="EAF6F4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1051560" y="5367528"/>
            <a:ext cx="10058400" cy="923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Takeaway:  </a:t>
            </a:r>
            <a:pPr indent="0" marL="0">
              <a:buNone/>
            </a:pPr>
            <a:r>
              <a:rPr lang="en-US" sz="1250" dirty="0">
                <a:solidFill>
                  <a:srgbClr val="16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starting phases from one well, across the barrier, to the other. In the wells (φ₀ = ±2.85) the two come closest. On the barrier top (φ₀ = 0) the classical point sweeps a wide figure-eight through both wells while the packet splits and stays put — the same initial condition, two completely different answers. That gap is what Component 3 has to learn.</a:t>
            </a:r>
            <a:endParaRPr lang="en-US" sz="1250" dirty="0"/>
          </a:p>
        </p:txBody>
      </p:sp>
      <p:sp>
        <p:nvSpPr>
          <p:cNvPr id="8" name="Text 4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Design of Quantum Processors  ·  Components 1–3</a:t>
            </a:r>
            <a:endParaRPr lang="en-US" sz="900" dirty="0"/>
          </a:p>
        </p:txBody>
      </p:sp>
      <p:sp>
        <p:nvSpPr>
          <p:cNvPr id="9" name="Text 5"/>
          <p:cNvSpPr/>
          <p:nvPr/>
        </p:nvSpPr>
        <p:spPr>
          <a:xfrm>
            <a:off x="11338560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4688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80" kern="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· PART 3 OF 3 — NEW THIS UPDATE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2926080"/>
            <a:ext cx="10058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Component 3 — Machine learning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822960" y="4023360"/>
            <a:ext cx="9601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Trained to early stopping, scored against three honest baselines, and measured against a physical axis — the classical→quantum breakdown is now located.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Design of Quantum Processors  ·  Components 1–3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338560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743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 3 · TASK 1(A–D)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777240"/>
            <a:ext cx="10881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dirty="0">
                <a:solidFill>
                  <a:srgbClr val="0B1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Training to the validation minimum instead of a fixed 150 epochs improved the model 6.4-fold.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822960" y="1883664"/>
            <a:ext cx="6035040" cy="384048"/>
          </a:xfrm>
          <a:prstGeom prst="roundRect">
            <a:avLst>
              <a:gd name="adj" fmla="val 9524"/>
            </a:avLst>
          </a:prstGeom>
          <a:solidFill>
            <a:srgbClr val="F4F7FC"/>
          </a:solidFill>
          <a:ln w="12700">
            <a:solidFill>
              <a:srgbClr val="F4F7F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901952"/>
            <a:ext cx="5852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i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h₁ = ReLU(W₁A + b₁)   h₂ = ReLU(W₂h₁ + b₂)   B̂ = W₃h₂ + b₃</a:t>
            </a:r>
            <a:endParaRPr lang="en-US" sz="1350" dirty="0"/>
          </a:p>
        </p:txBody>
      </p:sp>
      <p:pic>
        <p:nvPicPr>
          <p:cNvPr id="6" name="Image 0" descr="..\figures\fig_c3_loss_curv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2470548"/>
            <a:ext cx="6035040" cy="342566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498080" y="192024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20" kern="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SHOWS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7498080" y="2331720"/>
            <a:ext cx="3931920" cy="3749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19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6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300 paired trajectories: classical solve_ivp input A and fluxonium sesolve target B from the same packet.</a:t>
            </a:r>
            <a:endParaRPr lang="en-US" sz="1300" dirty="0"/>
          </a:p>
          <a:p>
            <a:pPr marL="342900" indent="-342900">
              <a:lnSpc>
                <a:spcPts val="19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6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hidden layers of 128 with ReLU, MSE loss, Adam at lr = 1e-3, an 80/20 split.</a:t>
            </a:r>
            <a:endParaRPr lang="en-US" sz="1300" dirty="0"/>
          </a:p>
          <a:p>
            <a:pPr marL="342900" indent="-342900">
              <a:lnSpc>
                <a:spcPts val="19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6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stopping keeps the weights at the validation minimum — epoch 1610, MSE 1.47e-4.</a:t>
            </a:r>
            <a:endParaRPr lang="en-US" sz="1300" dirty="0"/>
          </a:p>
          <a:p>
            <a:pPr marL="342900" indent="-342900">
              <a:lnSpc>
                <a:spcPts val="19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6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old fixed cutoff (red dotted) stopped while validation was still falling: 9.3e-4, 6.4× worse.</a:t>
            </a:r>
            <a:endParaRPr lang="en-US" sz="1300" dirty="0"/>
          </a:p>
        </p:txBody>
      </p:sp>
      <p:sp>
        <p:nvSpPr>
          <p:cNvPr id="10" name="Text 6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Design of Quantum Processors  ·  Components 1–3</a:t>
            </a:r>
            <a:endParaRPr lang="en-US" sz="900" dirty="0"/>
          </a:p>
        </p:txBody>
      </p:sp>
      <p:sp>
        <p:nvSpPr>
          <p:cNvPr id="11" name="Text 7"/>
          <p:cNvSpPr/>
          <p:nvPr/>
        </p:nvSpPr>
        <p:spPr>
          <a:xfrm>
            <a:off x="11338560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743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 3 · TASK 1(D) — HELD-OUT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777240"/>
            <a:ext cx="10881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dirty="0">
                <a:solidFill>
                  <a:srgbClr val="0B1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 held-out data the predicted quantum path follows the true one, not the classical input.</a:t>
            </a:r>
            <a:endParaRPr lang="en-US" sz="2300" dirty="0"/>
          </a:p>
        </p:txBody>
      </p:sp>
      <p:pic>
        <p:nvPicPr>
          <p:cNvPr id="4" name="Image 0" descr="..\figures\fig_c3_prediction_vs_tru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2709159"/>
            <a:ext cx="6035040" cy="2536961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498080" y="192024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20" kern="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SHOWS</a:t>
            </a: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7498080" y="2331720"/>
            <a:ext cx="3931920" cy="3749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19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6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validation trajectory, un-standardized back into physical units.</a:t>
            </a:r>
            <a:endParaRPr lang="en-US" sz="1300" dirty="0"/>
          </a:p>
          <a:p>
            <a:pPr marL="342900" indent="-342900">
              <a:lnSpc>
                <a:spcPts val="19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6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Grey dotted is the classical input A; blue is the true quantum target B; red dashed is the prediction.</a:t>
            </a:r>
            <a:endParaRPr lang="en-US" sz="1300" dirty="0"/>
          </a:p>
          <a:p>
            <a:pPr marL="342900" indent="-342900">
              <a:lnSpc>
                <a:spcPts val="19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6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prediction sits on the quantum curve, so the network learned the correction — not a copy of its input.</a:t>
            </a:r>
            <a:endParaRPr lang="en-US" sz="1300" dirty="0"/>
          </a:p>
          <a:p>
            <a:pPr marL="342900" indent="-342900">
              <a:lnSpc>
                <a:spcPts val="19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6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Physically consistent pairs are what make this learnable — mismatched pairs did 9× worse.</a:t>
            </a:r>
            <a:endParaRPr lang="en-US" sz="1300" dirty="0"/>
          </a:p>
        </p:txBody>
      </p:sp>
      <p:sp>
        <p:nvSpPr>
          <p:cNvPr id="8" name="Text 4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Design of Quantum Processors  ·  Components 1–3</a:t>
            </a:r>
            <a:endParaRPr lang="en-US" sz="900" dirty="0"/>
          </a:p>
        </p:txBody>
      </p:sp>
      <p:sp>
        <p:nvSpPr>
          <p:cNvPr id="9" name="Text 5"/>
          <p:cNvSpPr/>
          <p:nvPr/>
        </p:nvSpPr>
        <p:spPr>
          <a:xfrm>
            <a:off x="11338560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743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 3 · BEYOND THE BRIEF — BASELINES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777240"/>
            <a:ext cx="10881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dirty="0">
                <a:solidFill>
                  <a:srgbClr val="0B1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MLP beats all three honest baselines — but linear regression is the one that matters.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822960" y="2103120"/>
            <a:ext cx="2423160" cy="2286000"/>
          </a:xfrm>
          <a:prstGeom prst="roundRect">
            <a:avLst>
              <a:gd name="adj" fmla="val 2400"/>
            </a:avLst>
          </a:prstGeom>
          <a:solidFill>
            <a:srgbClr val="E8EEF7"/>
          </a:solidFill>
          <a:ln w="12700">
            <a:solidFill>
              <a:srgbClr val="E8EEF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60120" y="2286000"/>
            <a:ext cx="2148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0B1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1.067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960120" y="3200400"/>
            <a:ext cx="2148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COPY-CLASSICAL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960120" y="3520440"/>
            <a:ext cx="2148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 back the classical input unchanged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520440" y="2103120"/>
            <a:ext cx="2423160" cy="2286000"/>
          </a:xfrm>
          <a:prstGeom prst="roundRect">
            <a:avLst>
              <a:gd name="adj" fmla="val 2400"/>
            </a:avLst>
          </a:prstGeom>
          <a:solidFill>
            <a:srgbClr val="E8EEF7"/>
          </a:solidFill>
          <a:ln w="12700">
            <a:solidFill>
              <a:srgbClr val="E8EEF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0" y="2286000"/>
            <a:ext cx="2148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0B1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0.077</a:t>
            </a:r>
            <a:endParaRPr lang="en-US" sz="3800" dirty="0"/>
          </a:p>
        </p:txBody>
      </p:sp>
      <p:sp>
        <p:nvSpPr>
          <p:cNvPr id="10" name="Text 8"/>
          <p:cNvSpPr/>
          <p:nvPr/>
        </p:nvSpPr>
        <p:spPr>
          <a:xfrm>
            <a:off x="3657600" y="3200400"/>
            <a:ext cx="2148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K-NN (K = 1)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3657600" y="3520440"/>
            <a:ext cx="2148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 up the closest training trajectory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217920" y="2103120"/>
            <a:ext cx="2423160" cy="2286000"/>
          </a:xfrm>
          <a:prstGeom prst="roundRect">
            <a:avLst>
              <a:gd name="adj" fmla="val 2400"/>
            </a:avLst>
          </a:prstGeom>
          <a:solidFill>
            <a:srgbClr val="E8EEF7"/>
          </a:solidFill>
          <a:ln w="12700">
            <a:solidFill>
              <a:srgbClr val="E8EEF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55080" y="2286000"/>
            <a:ext cx="2148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0B1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0.026</a:t>
            </a:r>
            <a:endParaRPr lang="en-US" sz="3800" dirty="0"/>
          </a:p>
        </p:txBody>
      </p:sp>
      <p:sp>
        <p:nvSpPr>
          <p:cNvPr id="14" name="Text 12"/>
          <p:cNvSpPr/>
          <p:nvPr/>
        </p:nvSpPr>
        <p:spPr>
          <a:xfrm>
            <a:off x="6355080" y="3200400"/>
            <a:ext cx="2148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REGRESSION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6355080" y="3520440"/>
            <a:ext cx="2148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straight-line map, solved exactly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8915400" y="2103120"/>
            <a:ext cx="2423160" cy="2286000"/>
          </a:xfrm>
          <a:prstGeom prst="roundRect">
            <a:avLst>
              <a:gd name="adj" fmla="val 2400"/>
            </a:avLst>
          </a:prstGeom>
          <a:solidFill>
            <a:srgbClr val="EAF6F4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052560" y="2286000"/>
            <a:ext cx="2148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1C729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0.0057</a:t>
            </a:r>
            <a:endParaRPr lang="en-US" sz="3800" dirty="0"/>
          </a:p>
        </p:txBody>
      </p:sp>
      <p:sp>
        <p:nvSpPr>
          <p:cNvPr id="18" name="Text 16"/>
          <p:cNvSpPr/>
          <p:nvPr/>
        </p:nvSpPr>
        <p:spPr>
          <a:xfrm>
            <a:off x="9052560" y="3200400"/>
            <a:ext cx="2148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MLP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9052560" y="3520440"/>
            <a:ext cx="2148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trained network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822960" y="4709160"/>
            <a:ext cx="10515600" cy="1143000"/>
          </a:xfrm>
          <a:prstGeom prst="roundRect">
            <a:avLst>
              <a:gd name="adj" fmla="val 4800"/>
            </a:avLst>
          </a:prstGeom>
          <a:solidFill>
            <a:srgbClr val="EAF6F4"/>
          </a:solidFill>
          <a:ln w="12700">
            <a:solidFill>
              <a:srgbClr val="EAF6F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51560" y="4818888"/>
            <a:ext cx="10058400" cy="923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Takeaway:  </a:t>
            </a:r>
            <a:pPr indent="0" marL="0">
              <a:buNone/>
            </a:pPr>
            <a:r>
              <a:rPr lang="en-US" sz="1250" dirty="0">
                <a:solidFill>
                  <a:srgbClr val="16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RMS error in ⟨φ̂⟩ (radians) on the same 60 held-out trajectories. Beating copy-classical 186× shows the network reconstructs the quantum correction rather than passing its input through. But inside one well the motion is near-harmonic, and the harmonic classical→quantum map genuinely is linear — so a least-squares fit with no training loop already reaches 0.026. The honest headline is 4.5× over linear regression, not 186× over copying.</a:t>
            </a:r>
            <a:endParaRPr lang="en-US" sz="1250" dirty="0"/>
          </a:p>
        </p:txBody>
      </p:sp>
      <p:sp>
        <p:nvSpPr>
          <p:cNvPr id="23" name="Text 20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Design of Quantum Processors  ·  Components 1–3</a:t>
            </a:r>
            <a:endParaRPr lang="en-US" sz="900" dirty="0"/>
          </a:p>
        </p:txBody>
      </p:sp>
      <p:sp>
        <p:nvSpPr>
          <p:cNvPr id="24" name="Text 21"/>
          <p:cNvSpPr/>
          <p:nvPr/>
        </p:nvSpPr>
        <p:spPr>
          <a:xfrm>
            <a:off x="11338560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743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 3 · BEYOND THE BRIEF — A NULL RESULT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777240"/>
            <a:ext cx="10881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dirty="0">
                <a:solidFill>
                  <a:srgbClr val="0B1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My first attempt to find the breakdown found nothing — because it could not have.</a:t>
            </a:r>
            <a:endParaRPr lang="en-US" sz="2300" dirty="0"/>
          </a:p>
        </p:txBody>
      </p:sp>
      <p:pic>
        <p:nvPicPr>
          <p:cNvPr id="4" name="Image 0" descr="..\figures\fig_c3_error_vs_distanc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2144181"/>
            <a:ext cx="6035040" cy="366691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498080" y="192024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20" kern="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SHOWS</a:t>
            </a: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7498080" y="2331720"/>
            <a:ext cx="3931920" cy="3749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19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6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against distance from the well bottom is flat for every model: Spearman ρ = +0.08, p = 0.56 for the MLP.</a:t>
            </a:r>
            <a:endParaRPr lang="en-US" sz="1300" dirty="0"/>
          </a:p>
          <a:p>
            <a:pPr marL="342900" indent="-342900">
              <a:lnSpc>
                <a:spcPts val="19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6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first draft of this figure was titled 'error grows with distance'. Measuring the trend said otherwise, so it was retitled.</a:t>
            </a:r>
            <a:endParaRPr lang="en-US" sz="1300" dirty="0"/>
          </a:p>
          <a:p>
            <a:pPr marL="342900" indent="-342900">
              <a:lnSpc>
                <a:spcPts val="19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6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 the barrier sits 2.85 rad from the minimum and this dataset sampled only to 1.00 rad — 35% of the way.</a:t>
            </a:r>
            <a:endParaRPr lang="en-US" sz="1300" dirty="0"/>
          </a:p>
          <a:p>
            <a:pPr marL="342900" indent="-342900">
              <a:lnSpc>
                <a:spcPts val="19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6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null from a measurement that could not have detected the effect is not evidence of absence.</a:t>
            </a:r>
            <a:endParaRPr lang="en-US" sz="1300" dirty="0"/>
          </a:p>
        </p:txBody>
      </p:sp>
      <p:sp>
        <p:nvSpPr>
          <p:cNvPr id="8" name="Text 4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Design of Quantum Processors  ·  Components 1–3</a:t>
            </a:r>
            <a:endParaRPr lang="en-US" sz="900" dirty="0"/>
          </a:p>
        </p:txBody>
      </p:sp>
      <p:sp>
        <p:nvSpPr>
          <p:cNvPr id="9" name="Text 5"/>
          <p:cNvSpPr/>
          <p:nvPr/>
        </p:nvSpPr>
        <p:spPr>
          <a:xfrm>
            <a:off x="11338560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9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743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 3 · BEYOND THE BRIEF — THE BREAKDOWN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777240"/>
            <a:ext cx="10881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dirty="0">
                <a:solidFill>
                  <a:srgbClr val="0B1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breakdown sits exactly where Ehrenfest's condition fails — at the barrier.</a:t>
            </a:r>
            <a:endParaRPr lang="en-US" sz="2300" dirty="0"/>
          </a:p>
        </p:txBody>
      </p:sp>
      <p:pic>
        <p:nvPicPr>
          <p:cNvPr id="4" name="Image 0" descr="..\figures\fig_c3_error_vs_distance_wid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2167128"/>
            <a:ext cx="6035040" cy="362102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498080" y="192024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20" kern="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SHOWS</a:t>
            </a: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7498080" y="2331720"/>
            <a:ext cx="3931920" cy="3749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19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6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second dataset, from the well bottom to the barrier top, on a monotone one-sided axis.</a:t>
            </a:r>
            <a:endParaRPr lang="en-US" sz="1300" dirty="0"/>
          </a:p>
          <a:p>
            <a:pPr marL="342900" indent="-342900">
              <a:lnSpc>
                <a:spcPts val="19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6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MLP error climbs 5.2× (ρ = +0.40, p = 0.0016); copy-classical climbs 2.4× (ρ = +0.86, p = 8.5e-19).</a:t>
            </a:r>
            <a:endParaRPr lang="en-US" sz="1300" dirty="0"/>
          </a:p>
          <a:p>
            <a:pPr marL="342900" indent="-342900">
              <a:lnSpc>
                <a:spcPts val="19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6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Copy-classical's rise IS the quantum correction growing — a direct measurement of where the two pictures part company.</a:t>
            </a:r>
            <a:endParaRPr lang="en-US" sz="1300" dirty="0"/>
          </a:p>
          <a:p>
            <a:pPr marL="342900" indent="-342900">
              <a:lnSpc>
                <a:spcPts val="19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6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Truncation re-checked for the wider window: cutoff 80 vs 110 agree to 8.2e-7 rad.</a:t>
            </a:r>
            <a:endParaRPr lang="en-US" sz="1300" dirty="0"/>
          </a:p>
        </p:txBody>
      </p:sp>
      <p:sp>
        <p:nvSpPr>
          <p:cNvPr id="8" name="Text 4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Design of Quantum Processors  ·  Components 1–3</a:t>
            </a:r>
            <a:endParaRPr lang="en-US" sz="900" dirty="0"/>
          </a:p>
        </p:txBody>
      </p:sp>
      <p:sp>
        <p:nvSpPr>
          <p:cNvPr id="9" name="Text 5"/>
          <p:cNvSpPr/>
          <p:nvPr/>
        </p:nvSpPr>
        <p:spPr>
          <a:xfrm>
            <a:off x="11338560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9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743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777240"/>
            <a:ext cx="10881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dirty="0">
                <a:solidFill>
                  <a:srgbClr val="0B1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Checking every number against an exact formula is what caught all four corrections.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822960" y="2103120"/>
            <a:ext cx="3322320" cy="2286000"/>
          </a:xfrm>
          <a:prstGeom prst="roundRect">
            <a:avLst>
              <a:gd name="adj" fmla="val 2400"/>
            </a:avLst>
          </a:prstGeom>
          <a:solidFill>
            <a:srgbClr val="E8EEF7"/>
          </a:solidFill>
          <a:ln w="12700">
            <a:solidFill>
              <a:srgbClr val="E8EEF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60120" y="2286000"/>
            <a:ext cx="3048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0B1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5×10⁻¹⁵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960120" y="3200400"/>
            <a:ext cx="3048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SPECTRUM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960120" y="3520440"/>
            <a:ext cx="304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error vs Eₙ = ℏω(n+½), lowest 15 levels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419600" y="2103120"/>
            <a:ext cx="3322320" cy="2286000"/>
          </a:xfrm>
          <a:prstGeom prst="roundRect">
            <a:avLst>
              <a:gd name="adj" fmla="val 2400"/>
            </a:avLst>
          </a:prstGeom>
          <a:solidFill>
            <a:srgbClr val="E8EEF7"/>
          </a:solidFill>
          <a:ln w="12700">
            <a:solidFill>
              <a:srgbClr val="E8EEF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56760" y="2286000"/>
            <a:ext cx="3048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B1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1.9×10⁻⁹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4556760" y="3200400"/>
            <a:ext cx="3048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ENERGY DRIFT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556760" y="3520440"/>
            <a:ext cx="304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 four periods, at rtol = atol = 1e-10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016240" y="2103120"/>
            <a:ext cx="3322320" cy="2286000"/>
          </a:xfrm>
          <a:prstGeom prst="roundRect">
            <a:avLst>
              <a:gd name="adj" fmla="val 2400"/>
            </a:avLst>
          </a:prstGeom>
          <a:solidFill>
            <a:srgbClr val="E8EEF7"/>
          </a:solidFill>
          <a:ln w="12700">
            <a:solidFill>
              <a:srgbClr val="E8EEF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153400" y="2286000"/>
            <a:ext cx="3048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B1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8.2×10⁻⁷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8153400" y="3200400"/>
            <a:ext cx="3048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TRUNCATION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8153400" y="3520440"/>
            <a:ext cx="304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cutoff 80 vs 110 across the full sampling window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822960" y="4709160"/>
            <a:ext cx="10515600" cy="1417320"/>
          </a:xfrm>
          <a:prstGeom prst="roundRect">
            <a:avLst>
              <a:gd name="adj" fmla="val 3871"/>
            </a:avLst>
          </a:prstGeom>
          <a:solidFill>
            <a:srgbClr val="EAF6F4"/>
          </a:solidFill>
          <a:ln w="12700">
            <a:solidFill>
              <a:srgbClr val="EAF6F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51560" y="4818888"/>
            <a:ext cx="10058400" cy="11978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Takeaway:  </a:t>
            </a:r>
            <a:pPr indent="0" marL="0">
              <a:buNone/>
            </a:pPr>
            <a:r>
              <a:rPr lang="en-US" sz="1250" dirty="0">
                <a:solidFill>
                  <a:srgbClr val="16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corrections came from this discipline, none of which raised an exception. (1) The fluxonium mixed two coordinate conventions — fixing it improved validation MSE nine-fold. (2) A claimed order-to-chaos transition the Lyapunov exponent did not support. (3) A null result that was a limit of the sampling window, not a property of the map. (4) Two numbers in my own write-up that a re-run did not reproduce. A figure is a picture, not a measurement — and a number in prose is a claim until it is traced back to output.</a:t>
            </a:r>
            <a:endParaRPr lang="en-US" sz="1250" dirty="0"/>
          </a:p>
        </p:txBody>
      </p:sp>
      <p:sp>
        <p:nvSpPr>
          <p:cNvPr id="19" name="Text 16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Design of Quantum Processors  ·  Components 1–3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11338560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  <a:endParaRPr lang="en-US" sz="9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743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QUESTIONS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777240"/>
            <a:ext cx="10881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dirty="0">
                <a:solidFill>
                  <a:srgbClr val="0B1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I don't yet understand, and what I'd do next.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822960" y="1965960"/>
            <a:ext cx="5120640" cy="3886200"/>
          </a:xfrm>
          <a:prstGeom prst="roundRect">
            <a:avLst>
              <a:gd name="adj" fmla="val 1176"/>
            </a:avLst>
          </a:prstGeom>
          <a:solidFill>
            <a:srgbClr val="E8EEF7"/>
          </a:solidFill>
          <a:ln w="12700">
            <a:solidFill>
              <a:srgbClr val="E8EEF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97280" y="21945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 DON'T YET UNDERSTAND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1097280" y="2560320"/>
            <a:ext cx="45720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1700"/>
              </a:lnSpc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16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the model learning physics, or interpolating between 240 stored examples? Testing outside the training window would separate the two.</a:t>
            </a:r>
            <a:endParaRPr lang="en-US" sz="1200" dirty="0"/>
          </a:p>
          <a:p>
            <a:pPr marL="342900" indent="-342900">
              <a:lnSpc>
                <a:spcPts val="1700"/>
              </a:lnSpc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16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regression already reaches 0.026 rad, so most of the in-well map is trivially linear. How much genuine nonlinear structure is the network actually capturing?</a:t>
            </a:r>
            <a:endParaRPr lang="en-US" sz="1200" dirty="0"/>
          </a:p>
          <a:p>
            <a:pPr marL="342900" indent="-342900">
              <a:lnSpc>
                <a:spcPts val="1700"/>
              </a:lnSpc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16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MLP degrades fastest in relative terms toward the barrier (5.2×). Is that the map getting harder, or the training data thinning out there?</a:t>
            </a:r>
            <a:endParaRPr lang="en-US" sz="1200" dirty="0"/>
          </a:p>
          <a:p>
            <a:pPr marL="342900" indent="-342900">
              <a:lnSpc>
                <a:spcPts val="1700"/>
              </a:lnSpc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16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a deeper well (larger E_J/E_C) bring classical and quantum back together, as the correspondence principle says it should?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309360" y="1965960"/>
            <a:ext cx="5120640" cy="3886200"/>
          </a:xfrm>
          <a:prstGeom prst="roundRect">
            <a:avLst>
              <a:gd name="adj" fmla="val 1176"/>
            </a:avLst>
          </a:prstGeom>
          <a:solidFill>
            <a:srgbClr val="EAF6F4"/>
          </a:solidFill>
          <a:ln w="12700">
            <a:solidFill>
              <a:srgbClr val="EAF6F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83680" y="21945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I'D LIKE TO DO NEXT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6583680" y="2560320"/>
            <a:ext cx="45720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1700"/>
              </a:lnSpc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16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on the residual B − A rather than B — the part Ehrenfest discards, and the only part that is not near-linear.</a:t>
            </a:r>
            <a:endParaRPr lang="en-US" sz="1200" dirty="0"/>
          </a:p>
          <a:p>
            <a:pPr marL="342900" indent="-342900">
              <a:lnSpc>
                <a:spcPts val="1700"/>
              </a:lnSpc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16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Sweep across parameters (E_J/E_C, E_L/E_C, flux) rather than one point, which is where the Science 2022 generalization results apply.</a:t>
            </a:r>
            <a:endParaRPr lang="en-US" sz="1200" dirty="0"/>
          </a:p>
          <a:p>
            <a:pPr marL="342900" indent="-342900">
              <a:lnSpc>
                <a:spcPts val="1700"/>
              </a:lnSpc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16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 a quantity with no classical analogue — the tunneling splitting — instead of a trajectory.</a:t>
            </a:r>
            <a:endParaRPr lang="en-US" sz="1200" dirty="0"/>
          </a:p>
          <a:p>
            <a:pPr marL="342900" indent="-342900">
              <a:lnSpc>
                <a:spcPts val="1700"/>
              </a:lnSpc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16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Re-run Task 4 in the genuinely chaotic regime — λ = 0.8 with V₀ = 8 gives a Lyapunov exponent of 0.11 — if that is worth the time.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22960" y="598932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fluxonium property is actually worth predicting for real device design? — that one is genuinely your call.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Design of Quantum Processors  ·  Components 1–3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11338560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29</Slides>
  <Notes>29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Design of Quantum Processors — Components 1-3</dc:title>
  <dc:subject>PptxGenJS Presentation</dc:subject>
  <dc:creator>Marcos Sandoval Lucas</dc:creator>
  <cp:lastModifiedBy>Marcos Sandoval Lucas</cp:lastModifiedBy>
  <cp:revision>1</cp:revision>
  <dcterms:created xsi:type="dcterms:W3CDTF">2026-08-14T18:00:27Z</dcterms:created>
  <dcterms:modified xsi:type="dcterms:W3CDTF">2026-08-14T18:00:27Z</dcterms:modified>
</cp:coreProperties>
</file>