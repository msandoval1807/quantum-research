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9"/>
    <p:sldId id="263" r:id="rId20"/>
    <p:sldId id="264" r:id="rId21"/>
    <p:sldId id="265" r:id="rId8"/>
    <p:sldId id="266" r:id="rId9"/>
    <p:sldId id="267" r:id="rId10"/>
    <p:sldId id="268" r:id="rId11"/>
    <p:sldId id="269" r:id="rId12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fig-c1t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fig-c1t4a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fig-c1t4b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fig-c2t3a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fig-c2t3b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fig-c2t3c.png"/></Relationships>
</file>

<file path=ppt/slides/_rels/slide19.xml.rels><?xml version="1.0" encoding="UTF-8" standalone="yes"?>
<Relationships xmlns="http://schemas.openxmlformats.org/package/2006/relationships"/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fig-c3a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image" Target="../media/fig-c3b.png"/></Relationships>
</file>

<file path=ppt/slides/_rels/slide22.xml.rels><?xml version="1.0" encoding="UTF-8" standalone="yes"?>
<Relationships xmlns="http://schemas.openxmlformats.org/package/2006/relationships"/>
</file>

<file path=ppt/slides/_rels/slide23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5029200"/>
            <a:ext cx="822960" cy="822960"/>
          </a:xfrm>
          <a:prstGeom prst="ellipse">
            <a:avLst/>
          </a:prstGeom>
          <a:solidFill>
            <a:srgbClr val="0B1F3A">
              <a:alpha val="0"/>
            </a:srgbClr>
          </a:solidFill>
          <a:ln w="31750">
            <a:solidFill>
              <a:srgbClr val="2EC4B6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921240" y="4617720"/>
            <a:ext cx="1645920" cy="1645920"/>
          </a:xfrm>
          <a:prstGeom prst="ellipse">
            <a:avLst/>
          </a:prstGeom>
          <a:solidFill>
            <a:srgbClr val="0B1F3A">
              <a:alpha val="0"/>
            </a:srgbClr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509760" y="4206240"/>
            <a:ext cx="2468880" cy="2468880"/>
          </a:xfrm>
          <a:prstGeom prst="ellipse">
            <a:avLst/>
          </a:prstGeom>
          <a:solidFill>
            <a:srgbClr val="0B1F3A">
              <a:alpha val="0"/>
            </a:srgbClr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698480" y="5394960"/>
            <a:ext cx="91440" cy="914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05740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 of Quantum Processors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41248" y="33832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1–3 — from classical and quantum data to a trained classical→quantum model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Sandoval Lucas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Mondragon-Shem Quantum Group · UIC College of Engineering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test whether classical data can predict quantum properties — first on the exactly-solvable oscillator, now on a real fluxonium qubit.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41248" y="24688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69848" y="2670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data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69848" y="35478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Phase-space orbits &amp; energies — the model INPUTS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468880"/>
            <a:ext cx="502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727448" y="24688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56048" y="2670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56048" y="30358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data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56048" y="35478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Spectra, dynamics &amp; Wigner functions — the model TARGETS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92440" y="2468880"/>
            <a:ext cx="502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613648" y="24688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2EC4B6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842248" y="2670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42248" y="30358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42248" y="35478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Trained: predicts fluxonium quantum trajectories from classical ones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" y="4709160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51560" y="489204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 </a:t>
            </a:r>
            <a:pPr indent="0" marL="0">
              <a:buNone/>
            </a:pPr>
            <a:r>
              <a:rPr lang="en-US" sz="14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a quantum system can be predicted from classical information alone — and where does that prediction break down?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498080" y="4709160"/>
            <a:ext cx="3822192" cy="1325880"/>
          </a:xfrm>
          <a:prstGeom prst="roundRect">
            <a:avLst>
              <a:gd name="adj" fmla="val 551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99248" y="4864608"/>
            <a:ext cx="34198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system? 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harmonic oscillator is exactly solvable in both worlds — every number has a built-in answer key.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0116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/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and quantum data, extended to the anharmonic and coupled oscillators and to the fluxonium qubit — every result checked against an exact formula.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Constant-energy contours are closed elliptical orbits in phase space.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1_cont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3700" y="2011680"/>
            <a:ext cx="4536440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total energy E(x,p); white rings are constant-energy curves.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ring is one allowed classical orbit — the system is locked onto it.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natural units the ellipses become circles; larger energy = larger ring.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map defines the classical states the ML model will draw inputs from.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trajectories match the exact solution and conserve energy.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1_si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652" y="2011680"/>
            <a:ext cx="4402536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solve_ivp steps Hamilton's equations forward in time to trace the orbit.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path overlaps the analytic solution — the solver is verified.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orbit closes on itself and energy drift is only ~1e-9 — the solver conserves energy as it should.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here transfers to systems with no exact answer later.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energy gives larger, non-crossing orbits — the classical feature set.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1_ma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8993" y="2011680"/>
            <a:ext cx="4405855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random initial conditions, each colored by its conserved energy.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Orbits never intersect: a unique state has a unique future.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as classical_trajectories.npy — the inputs for Component 3.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structure is exactly the 'feature space' ML will learn from.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quantum operators reveal the ladder structure of the oscillator.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2_opera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883" y="1938528"/>
            <a:ext cx="9603754" cy="3300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is diagonal (each level has a definite energy), while x̂ and p̂ have only off-diagonal entries — they connect a level to its immediate neighbors.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energy is discrete, evenly spaced, with a nonzero zero-point energy.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2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044" y="2011680"/>
            <a:ext cx="5775751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QuTiP eigenvalues land exactly on the analytic line Eₙ = ℏω(n+½).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state E₀ = ½ℏω ≠ 0 — a purely quantum effect.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equally spaced by ℏω (the ladder).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High-n points drift: the expected signature of finite truncation.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truncation level N sets how many energy levels are trustworthy.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2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48876"/>
            <a:ext cx="6309360" cy="3903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Eigenvalue error stays at machine-zero for low levels, then blows up.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the lowest N/2 levels are exact for a given truncation 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N pushes the trustworthy range higher (N=10→5, 30→15, 50→25).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increase N until the quantity of interest stops changing.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Wigner functions expose non-classicality through negativity and interference.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2_wig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829" y="1938528"/>
            <a:ext cx="10301862" cy="3300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Fock state has a negative core and the superposition shows interference fringes (both impossible classically); the coherent state stays positive — the most classical state.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averages trace the classical orbit, but averaging hides the spread.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81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kind-inspiring-turing/mnt/quantum-research/Assignment 1/slides/assets/c2_expec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433" y="1938528"/>
            <a:ext cx="9040654" cy="3300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coherent state ⟨x̂⟩,⟨p̂⟩ follow the classical circle exactly (Ehrenfest's theorem); the Fock state sits at the origin. The averages discard the variance and interference the Wigner picture keeps.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4572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/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41248" y="1143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219456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13294B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don't yet understand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8036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classical/quantum gap never drops below ~0.8 rad. How much of that is the packet's width rather than the dynamics?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was still falling at epoch 150, so the model is under-trained. How far does the MSE go with more epochs?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deeper well (larger E_J/E_C) bring classical and quantum back together, as the correspondence principle says?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the target be trajectories at all, or a quantum quantity with no classical analogue (tunneling splitting)?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5056632" cy="3840480"/>
          </a:xfrm>
          <a:prstGeom prst="roundRect">
            <a:avLst>
              <a:gd name="adj" fmla="val 190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19672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like to do next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880360"/>
            <a:ext cx="4617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past 150 epochs and add early stopping on the validation minimum.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 the sampling window from inside the well out toward the barrier and watch where the MLP starts to fail.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early stopping on the validation minimum, and report component-wise error in physical units.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PI: which fluxonium property is most worth predicting for real device design?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3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 cosine well bends the orbits out of ellipses and ties the period to energy.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1_cosine_trajecto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332" y="2011680"/>
            <a:ext cx="5207175" cy="39776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p²/2m + ½mω²x² − V₀cos(kx) with V₀ = k = 1 — the classical shadow of a Josephson junction.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Low-energy orbits still look elliptical; higher-energy orbits visibly deform.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Anharmonicity is what makes a qubit addressable — evenly spaced levels cannot be driven two at a time.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classical inputs Component 3 pairs with fluxonium targets.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coupled oscillators live in a 4-D phase space, so we read them through 2-D projections.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1_coupled_projecti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110" y="2011680"/>
            <a:ext cx="4293620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cosine oscillators joined by momentum coupling λp₁p₂ with λ = 0.3.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(x₁, p₁, x₂, p₂) — four numbers, so the motion cannot be drawn directly.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projects that 4-D motion onto one pair of coordinates.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lets the two trade energy: neither conserves its own any more, only the total does.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expected chaos at high energy. Measuring it properly says the motion stays regular.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1_coupled_poinca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1464"/>
            <a:ext cx="6309360" cy="357807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Poincaré section records the state only as it crosses x₂ = 0 in one direction — a tangled orbit becomes dots.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nested curves mean regular, quasiperiodic motion (KAM tori); a scattered cloud would mean chaos.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 = 1 and E = 12 give nested curves. The Lyapunov exponent confirms it: λ ≈ 0.004–0.007, zero to within the log t/t floor.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nonlinearity is a bounded cosine while the harmonic term grows without limit — so higher energy makes this system MORE nearly integrable.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half flux the fluxonium is a double well whose two lowest states form a tunneling doublet.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2_fluxonium_spectru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1199" y="2011680"/>
            <a:ext cx="6161442" cy="39776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= 4E_C n̂² + ½E_L φ̂² − E_J cos(φ̂ + φ_ext) — scqubits' convention, at E_J/E_C = 5, E_L/E_C = 0.5.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φ_ext = π is the symmetric sweet spot: wells at φ = ±2.85 with a barrier at φ = 0, 7.76 E_C above them.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E₁ − E₀ = 0.134 E_C while E₂ − E₀ = 4.62 E_C — a 34× gap that isolates a clean two-level system.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tiny splitting is tunneling through the barrier, and it has no classical counterpart.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wave packet tracks the classical orbit for half a period, then falls behind it.</a:t>
            </a:r>
          </a:p>
        </p:txBody>
      </p:sp>
      <p:sp>
        <p:nvSpPr>
          <p:cNvPr id="5" name="Shape 3"/>
          <p:cNvSpPr/>
          <p:nvPr/>
        </p:nvSpPr>
        <p:spPr>
          <a:xfrm>
            <a:off x="1674855" y="1828800"/>
            <a:ext cx="881181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2_fluxonium_dynamic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7755" y="1943100"/>
            <a:ext cx="812601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at the well minimum φ₀ = 2.85 with the same charge kick n₀ = 0.5 (placed there at rest, the classical particle sits at an equilibrium and never moves). They agree closely until t ≈ 0.7, then the quantum average loses amplitude: the packet is as wide as the well, so different parts of it feel different restoring forces. ⟨Ĥ⟩ is conserved to 2.1e-7, so this is physics, not solver error.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Launched on the barrier, the classical and quantum pictures stop describing the same system.</a:t>
            </a:r>
          </a:p>
        </p:txBody>
      </p:sp>
      <p:sp>
        <p:nvSpPr>
          <p:cNvPr id="5" name="Shape 3"/>
          <p:cNvSpPr/>
          <p:nvPr/>
        </p:nvSpPr>
        <p:spPr>
          <a:xfrm>
            <a:off x="1773908" y="1828800"/>
            <a:ext cx="861370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2_fluxonium_swee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6808" y="1943100"/>
            <a:ext cx="7927903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starting phases from one well, across the barrier, to the other. In the wells (φ₀ = ±2.85) the two come closest — the orbits share the same region, though the quantum one is still visibly wider. On the barrier top (φ₀ = 0) the classical point sweeps a wide figure-eight through both wells while the packet splits and stays put — the same initial condition, two completely different answers. That gap is what Component 3 has to learn.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THIS UPDATE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3</a:t>
            </a:r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pipeline runs end to end: paired trajectories → standardize → MLP → validation.</a:t>
            </a:r>
          </a:p>
        </p:txBody>
      </p:sp>
      <p:sp>
        <p:nvSpPr>
          <p:cNvPr id="6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7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Fixing the coordinate convention improved validation MSE nine-fold, to 9.3 × 10⁻⁴.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3_loss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09812"/>
            <a:ext cx="6309360" cy="35813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paired trajectories: classical solve_ivp input A and fluxonium sesolve target B from the same packet.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hidden layers of 128 with ReLU, MSE loss, Adam at lr = 1e-3, an 80/20 split, 150 epochs.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MSE 9.3e-4 against training 5.4e-4 — a gap of 1.7×, down from 13.7× before the fix.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was still falling at epoch 150, so the model is under-trained: more epochs should help.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held-out data the predicted quantum path follows the true one, not the classical input.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658368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Image 0" descr="fig_c3_prediction_vs_tr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79462"/>
            <a:ext cx="6309360" cy="26420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4380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</a:p>
        </p:txBody>
      </p:sp>
      <p:sp>
        <p:nvSpPr>
          <p:cNvPr id="8" name="Text 5"/>
          <p:cNvSpPr/>
          <p:nvPr/>
        </p:nvSpPr>
        <p:spPr>
          <a:xfrm>
            <a:off x="7543800" y="237744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validation trajectory, un-standardized back into physical units.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dotted is the classical input A; blue is the true quantum target B; red dashed is the prediction.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prediction sits on the quantum curve, so the network learned the correction — not a copy of its input.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consistent pairs are what make this learnable — the same network on mismatched pairs did 9× worse.</a:t>
            </a:r>
          </a:p>
        </p:txBody>
      </p:sp>
      <p:sp>
        <p:nvSpPr>
          <p:cNvPr id="9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10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Finding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classical trajectory degrades steadily as the packet starts further up the well.</a:t>
            </a:r>
          </a:p>
        </p:txBody>
      </p:sp>
      <p:sp>
        <p:nvSpPr>
          <p:cNvPr id="6" name="Shape 0"/>
          <p:cNvSpPr/>
          <p:nvPr/>
        </p:nvSpPr>
        <p:spPr>
          <a:xfrm>
            <a:off x="64008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Big 0"/>
          <p:cNvSpPr/>
          <p:nvPr/>
        </p:nvSpPr>
        <p:spPr>
          <a:xfrm>
            <a:off x="82296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</a:p>
        </p:txBody>
      </p:sp>
      <p:sp>
        <p:nvSpPr>
          <p:cNvPr id="8" name="Cap 0"/>
          <p:cNvSpPr/>
          <p:nvPr/>
        </p:nvSpPr>
        <p:spPr>
          <a:xfrm>
            <a:off x="82296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MINIMUM</a:t>
            </a:r>
          </a:p>
        </p:txBody>
      </p:sp>
      <p:sp>
        <p:nvSpPr>
          <p:cNvPr id="9" name="Sub 0"/>
          <p:cNvSpPr/>
          <p:nvPr/>
        </p:nvSpPr>
        <p:spPr>
          <a:xfrm>
            <a:off x="82296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|φ₀ − φ_min| &lt; 0.33</a:t>
            </a:r>
          </a:p>
        </p:txBody>
      </p:sp>
      <p:sp>
        <p:nvSpPr>
          <p:cNvPr id="10" name="Shape 1"/>
          <p:cNvSpPr/>
          <p:nvPr/>
        </p:nvSpPr>
        <p:spPr>
          <a:xfrm>
            <a:off x="434340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Big 1"/>
          <p:cNvSpPr/>
          <p:nvPr/>
        </p:nvSpPr>
        <p:spPr>
          <a:xfrm>
            <a:off x="452628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0.97</a:t>
            </a:r>
          </a:p>
        </p:txBody>
      </p:sp>
      <p:sp>
        <p:nvSpPr>
          <p:cNvPr id="12" name="Cap 1"/>
          <p:cNvSpPr/>
          <p:nvPr/>
        </p:nvSpPr>
        <p:spPr>
          <a:xfrm>
            <a:off x="452628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MID-WELL</a:t>
            </a:r>
          </a:p>
        </p:txBody>
      </p:sp>
      <p:sp>
        <p:nvSpPr>
          <p:cNvPr id="13" name="Sub 1"/>
          <p:cNvSpPr/>
          <p:nvPr/>
        </p:nvSpPr>
        <p:spPr>
          <a:xfrm>
            <a:off x="452628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 ≤ |φ₀ − φ_min| &lt; 0.66</a:t>
            </a:r>
          </a:p>
        </p:txBody>
      </p:sp>
      <p:sp>
        <p:nvSpPr>
          <p:cNvPr id="14" name="Shape 2"/>
          <p:cNvSpPr/>
          <p:nvPr/>
        </p:nvSpPr>
        <p:spPr>
          <a:xfrm>
            <a:off x="804672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Big 2"/>
          <p:cNvSpPr/>
          <p:nvPr/>
        </p:nvSpPr>
        <p:spPr>
          <a:xfrm>
            <a:off x="822960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1.19</a:t>
            </a:r>
          </a:p>
        </p:txBody>
      </p:sp>
      <p:sp>
        <p:nvSpPr>
          <p:cNvPr id="16" name="Cap 2"/>
          <p:cNvSpPr/>
          <p:nvPr/>
        </p:nvSpPr>
        <p:spPr>
          <a:xfrm>
            <a:off x="822960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ON THE WALL</a:t>
            </a:r>
          </a:p>
        </p:txBody>
      </p:sp>
      <p:sp>
        <p:nvSpPr>
          <p:cNvPr id="17" name="Sub 2"/>
          <p:cNvSpPr/>
          <p:nvPr/>
        </p:nvSpPr>
        <p:spPr>
          <a:xfrm>
            <a:off x="822960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 ≤ |φ₀ − φ_min| &lt; 1.0</a:t>
            </a:r>
          </a:p>
        </p:txBody>
      </p:sp>
      <p:sp>
        <p:nvSpPr>
          <p:cNvPr id="18" name="Bar"/>
          <p:cNvSpPr/>
          <p:nvPr/>
        </p:nvSpPr>
        <p:spPr>
          <a:xfrm>
            <a:off x="640080" y="48463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BarText"/>
          <p:cNvSpPr/>
          <p:nvPr/>
        </p:nvSpPr>
        <p:spPr>
          <a:xfrm>
            <a:off x="914400" y="48463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RMS difference in φ (radians) between the classical input and the quantum target, over all 300 pairs. The gap never closes: at E_J/E_C = 5 the packet width φ_zpf = 1.41 is comparable to the well itself, so a coherent state is not a classical point particle anywhere in this regime — and it gets worse up the wall.</a:t>
            </a:r>
          </a:p>
        </p:txBody>
      </p:sp>
      <p:sp>
        <p:nvSpPr>
          <p:cNvPr id="20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21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310896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108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Checking every number against an exact formula is what caught the errors.</a:t>
            </a:r>
          </a:p>
        </p:txBody>
      </p:sp>
      <p:sp>
        <p:nvSpPr>
          <p:cNvPr id="6" name="Shape 0"/>
          <p:cNvSpPr/>
          <p:nvPr/>
        </p:nvSpPr>
        <p:spPr>
          <a:xfrm>
            <a:off x="64008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Big 0"/>
          <p:cNvSpPr/>
          <p:nvPr/>
        </p:nvSpPr>
        <p:spPr>
          <a:xfrm>
            <a:off x="82296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5×10⁻¹⁵</a:t>
            </a:r>
          </a:p>
        </p:txBody>
      </p:sp>
      <p:sp>
        <p:nvSpPr>
          <p:cNvPr id="8" name="Cap 0"/>
          <p:cNvSpPr/>
          <p:nvPr/>
        </p:nvSpPr>
        <p:spPr>
          <a:xfrm>
            <a:off x="82296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</a:t>
            </a:r>
          </a:p>
        </p:txBody>
      </p:sp>
      <p:sp>
        <p:nvSpPr>
          <p:cNvPr id="9" name="Sub 0"/>
          <p:cNvSpPr/>
          <p:nvPr/>
        </p:nvSpPr>
        <p:spPr>
          <a:xfrm>
            <a:off x="82296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error vs Eₙ = ℏω(n+½) over the lowest 15 of N = 30 levels</a:t>
            </a:r>
          </a:p>
        </p:txBody>
      </p:sp>
      <p:sp>
        <p:nvSpPr>
          <p:cNvPr id="10" name="Shape 1"/>
          <p:cNvSpPr/>
          <p:nvPr/>
        </p:nvSpPr>
        <p:spPr>
          <a:xfrm>
            <a:off x="434340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Big 1"/>
          <p:cNvSpPr/>
          <p:nvPr/>
        </p:nvSpPr>
        <p:spPr>
          <a:xfrm>
            <a:off x="452628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1.3×10⁻⁸</a:t>
            </a:r>
          </a:p>
        </p:txBody>
      </p:sp>
      <p:sp>
        <p:nvSpPr>
          <p:cNvPr id="12" name="Cap 1"/>
          <p:cNvSpPr/>
          <p:nvPr/>
        </p:nvSpPr>
        <p:spPr>
          <a:xfrm>
            <a:off x="452628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DRIFT</a:t>
            </a:r>
          </a:p>
        </p:txBody>
      </p:sp>
      <p:sp>
        <p:nvSpPr>
          <p:cNvPr id="13" name="Sub 1"/>
          <p:cNvSpPr/>
          <p:nvPr/>
        </p:nvSpPr>
        <p:spPr>
          <a:xfrm>
            <a:off x="452628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full period, across all 12 saved classical trajectories</a:t>
            </a:r>
          </a:p>
        </p:txBody>
      </p:sp>
      <p:sp>
        <p:nvSpPr>
          <p:cNvPr id="14" name="Shape 2"/>
          <p:cNvSpPr/>
          <p:nvPr/>
        </p:nvSpPr>
        <p:spPr>
          <a:xfrm>
            <a:off x="8046720" y="2011680"/>
            <a:ext cx="347472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Big 2"/>
          <p:cNvSpPr/>
          <p:nvPr/>
        </p:nvSpPr>
        <p:spPr>
          <a:xfrm>
            <a:off x="8229600" y="2240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6.7×10⁻⁹</a:t>
            </a:r>
          </a:p>
        </p:txBody>
      </p:sp>
      <p:sp>
        <p:nvSpPr>
          <p:cNvPr id="16" name="Cap 2"/>
          <p:cNvSpPr/>
          <p:nvPr/>
        </p:nvSpPr>
        <p:spPr>
          <a:xfrm>
            <a:off x="822960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</a:p>
        </p:txBody>
      </p:sp>
      <p:sp>
        <p:nvSpPr>
          <p:cNvPr id="17" name="Sub 2"/>
          <p:cNvSpPr/>
          <p:nvPr/>
        </p:nvSpPr>
        <p:spPr>
          <a:xfrm>
            <a:off x="8229600" y="3566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deviation between solve_ivp and the exact analytic solution</a:t>
            </a:r>
          </a:p>
        </p:txBody>
      </p:sp>
      <p:sp>
        <p:nvSpPr>
          <p:cNvPr id="18" name="Bar"/>
          <p:cNvSpPr/>
          <p:nvPr/>
        </p:nvSpPr>
        <p:spPr>
          <a:xfrm>
            <a:off x="640080" y="48463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143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BarText"/>
          <p:cNvSpPr/>
          <p:nvPr/>
        </p:nvSpPr>
        <p:spPr>
          <a:xfrm>
            <a:off x="914400" y="48463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audit caught the fluxonium work mixing two coordinate conventions — scqubits centres the potential on φ = 0 (wells at ±2.85, barrier at 0) while the classical side used a copy shifted by φ_ext. Correcting it and re-running improved the Component 3 validation MSE by a factor of nine.</a:t>
            </a:r>
          </a:p>
        </p:txBody>
      </p:sp>
      <p:sp>
        <p:nvSpPr>
          <p:cNvPr id="20" name="Text F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</a:p>
        </p:txBody>
      </p:sp>
      <p:sp>
        <p:nvSpPr>
          <p:cNvPr id="21" name="Text P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Design of Quantum Processors — Components 1 &amp; 2</dc:title>
  <dc:subject>PptxGenJS Presentation</dc:subject>
  <dc:creator>Marcos Sandoval Lucas</dc:creator>
  <cp:lastModifiedBy>Marcos Sandoval Lucas</cp:lastModifiedBy>
  <cp:revision>1</cp:revision>
  <dcterms:created xsi:type="dcterms:W3CDTF">2026-06-17T03:51:06Z</dcterms:created>
  <dcterms:modified xsi:type="dcterms:W3CDTF">2026-06-17T03:51:06Z</dcterms:modified>
</cp:coreProperties>
</file>